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cc20dcc0-949d-da74-ebf2-50cc8dc24134}">
          <p14:sldIdLst>
            <p14:sldId id="256"/>
            <p14:sldId id="257"/>
            <p14:sldId id="258"/>
            <p14:sldId id="259"/>
          </p14:sldIdLst>
        </p14:section>
        <p14:section name="Solution" id="{77190166-eb09-1306-dcbc-d36bea1dfe9b}">
          <p14:sldIdLst>
            <p14:sldId id="260"/>
            <p14:sldId id="261"/>
            <p14:sldId id="262"/>
            <p14:sldId id="263"/>
          </p14:sldIdLst>
        </p14:section>
        <p14:section name="Demo and Impact" id="{067bdcec-81a3-0b2d-8f26-862a921e2f95}">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Observed</c:v>
                </c:pt>
              </c:strCache>
            </c:strRef>
          </c:tx>
          <c:spPr>
            <a:solidFill>
              <a:srgbClr val="8FD3D9"/>
            </a:solidFill>
            <a:ln w="38100" cap="flat">
              <a:solidFill>
                <a:srgbClr val="8FD3D9"/>
              </a:solidFill>
              <a:prstDash val="solid,dash,sys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D3D9"/>
              </a:solidFill>
              <a:ln w="9525" cap="flat">
                <a:solidFill>
                  <a:srgbClr val="8FD3D9"/>
                </a:solidFill>
                <a:prstDash val="solid"/>
                <a:round/>
              </a:ln>
              <a:effectLst/>
            </c:spPr>
          </c:marker>
          <c:cat>
            <c:multiLvlStrRef>
              <c:f>Sheet1!$A$2:$A$57</c:f>
              <c:multiLvlStrCache>
                <c:ptCount val="56"/>
                <c:lvl>
                  <c:pt idx="0">
                    <c:v>19:45</c:v>
                  </c:pt>
                  <c:pt idx="1">
                    <c:v>20:00</c:v>
                  </c:pt>
                  <c:pt idx="2">
                    <c:v>20:15</c:v>
                  </c:pt>
                  <c:pt idx="3">
                    <c:v>20:30</c:v>
                  </c:pt>
                  <c:pt idx="4">
                    <c:v>20:45</c:v>
                  </c:pt>
                  <c:pt idx="5">
                    <c:v>21:00</c:v>
                  </c:pt>
                  <c:pt idx="6">
                    <c:v>21:15</c:v>
                  </c:pt>
                  <c:pt idx="7">
                    <c:v>21:30</c:v>
                  </c:pt>
                  <c:pt idx="8">
                    <c:v>21:45</c:v>
                  </c:pt>
                  <c:pt idx="9">
                    <c:v>22:00</c:v>
                  </c:pt>
                  <c:pt idx="10">
                    <c:v>22:15</c:v>
                  </c:pt>
                  <c:pt idx="11">
                    <c:v>22:30</c:v>
                  </c:pt>
                  <c:pt idx="12">
                    <c:v>22:45</c:v>
                  </c:pt>
                  <c:pt idx="13">
                    <c:v>23:00</c:v>
                  </c:pt>
                  <c:pt idx="14">
                    <c:v>23:15</c:v>
                  </c:pt>
                  <c:pt idx="15">
                    <c:v>23:30</c:v>
                  </c:pt>
                  <c:pt idx="16">
                    <c:v>23:45</c:v>
                  </c:pt>
                  <c:pt idx="17">
                    <c:v>00:00</c:v>
                  </c:pt>
                  <c:pt idx="18">
                    <c:v>00:15</c:v>
                  </c:pt>
                  <c:pt idx="19">
                    <c:v>00:30</c:v>
                  </c:pt>
                  <c:pt idx="20">
                    <c:v>00:45</c:v>
                  </c:pt>
                  <c:pt idx="21">
                    <c:v>01:00</c:v>
                  </c:pt>
                  <c:pt idx="22">
                    <c:v>01:15</c:v>
                  </c:pt>
                  <c:pt idx="23">
                    <c:v>01:30</c:v>
                  </c:pt>
                  <c:pt idx="24">
                    <c:v>01:45</c:v>
                  </c:pt>
                  <c:pt idx="25">
                    <c:v>02:00</c:v>
                  </c:pt>
                  <c:pt idx="26">
                    <c:v>02:15</c:v>
                  </c:pt>
                  <c:pt idx="27">
                    <c:v>02:30</c:v>
                  </c:pt>
                  <c:pt idx="28">
                    <c:v>02:45</c:v>
                  </c:pt>
                  <c:pt idx="29">
                    <c:v>03:00</c:v>
                  </c:pt>
                  <c:pt idx="30">
                    <c:v>03:15</c:v>
                  </c:pt>
                  <c:pt idx="31">
                    <c:v>03:30</c:v>
                  </c:pt>
                  <c:pt idx="32">
                    <c:v>03:45</c:v>
                  </c:pt>
                  <c:pt idx="33">
                    <c:v>04:00</c:v>
                  </c:pt>
                  <c:pt idx="34">
                    <c:v>04:15</c:v>
                  </c:pt>
                  <c:pt idx="35">
                    <c:v>04:30</c:v>
                  </c:pt>
                  <c:pt idx="36">
                    <c:v>04:45</c:v>
                  </c:pt>
                  <c:pt idx="37">
                    <c:v>05:00</c:v>
                  </c:pt>
                  <c:pt idx="38">
                    <c:v>05:15</c:v>
                  </c:pt>
                  <c:pt idx="39">
                    <c:v>05:30</c:v>
                  </c:pt>
                  <c:pt idx="40">
                    <c:v>05:45</c:v>
                  </c:pt>
                  <c:pt idx="41">
                    <c:v>06:00</c:v>
                  </c:pt>
                  <c:pt idx="42">
                    <c:v>06:15</c:v>
                  </c:pt>
                  <c:pt idx="43">
                    <c:v>06:30</c:v>
                  </c:pt>
                  <c:pt idx="44">
                    <c:v>06:45</c:v>
                  </c:pt>
                  <c:pt idx="45">
                    <c:v>07:00</c:v>
                  </c:pt>
                  <c:pt idx="46">
                    <c:v>07:15</c:v>
                  </c:pt>
                  <c:pt idx="47">
                    <c:v>07:30</c:v>
                  </c:pt>
                  <c:pt idx="48">
                    <c:v/>
                  </c:pt>
                  <c:pt idx="49">
                    <c:v/>
                  </c:pt>
                  <c:pt idx="50">
                    <c:v/>
                  </c:pt>
                  <c:pt idx="51">
                    <c:v/>
                  </c:pt>
                  <c:pt idx="52">
                    <c:v/>
                  </c:pt>
                  <c:pt idx="53">
                    <c:v/>
                  </c:pt>
                  <c:pt idx="54">
                    <c:v/>
                  </c:pt>
                  <c:pt idx="55">
                    <c:v/>
                  </c:pt>
                </c:lvl>
              </c:multiLvlStrCache>
            </c:multiLvlStrRef>
          </c:cat>
          <c:val>
            <c:numRef>
              <c:f>Sheet1!$B$2:$B$57</c:f>
              <c:numCache>
                <c:formatCode>General</c:formatCode>
                <c:ptCount val="56"/>
                <c:pt idx="0">
                  <c:v>153.5</c:v>
                </c:pt>
                <c:pt idx="1">
                  <c:v>154.5</c:v>
                </c:pt>
                <c:pt idx="2">
                  <c:v>153.8</c:v>
                </c:pt>
                <c:pt idx="3">
                  <c:v>149.4</c:v>
                </c:pt>
                <c:pt idx="4">
                  <c:v>164.8</c:v>
                </c:pt>
                <c:pt idx="5">
                  <c:v>174.1</c:v>
                </c:pt>
                <c:pt idx="6">
                  <c:v>188.6</c:v>
                </c:pt>
                <c:pt idx="7">
                  <c:v>189.2</c:v>
                </c:pt>
                <c:pt idx="8">
                  <c:v>193.2</c:v>
                </c:pt>
                <c:pt idx="9">
                  <c:v>189.7</c:v>
                </c:pt>
                <c:pt idx="10">
                  <c:v>186</c:v>
                </c:pt>
                <c:pt idx="11">
                  <c:v>177.7</c:v>
                </c:pt>
                <c:pt idx="12">
                  <c:v>175.4</c:v>
                </c:pt>
                <c:pt idx="13">
                  <c:v>170.4</c:v>
                </c:pt>
                <c:pt idx="14">
                  <c:v>165.1</c:v>
                </c:pt>
                <c:pt idx="15">
                  <c:v>158.6</c:v>
                </c:pt>
                <c:pt idx="16">
                  <c:v>155.8</c:v>
                </c:pt>
                <c:pt idx="17">
                  <c:v>152.5</c:v>
                </c:pt>
                <c:pt idx="18">
                  <c:v>154.4</c:v>
                </c:pt>
                <c:pt idx="19">
                  <c:v>153.3</c:v>
                </c:pt>
                <c:pt idx="20">
                  <c:v>154.2</c:v>
                </c:pt>
                <c:pt idx="21">
                  <c:v>148.1</c:v>
                </c:pt>
                <c:pt idx="22">
                  <c:v>146.9</c:v>
                </c:pt>
                <c:pt idx="23">
                  <c:v>141.7</c:v>
                </c:pt>
                <c:pt idx="24">
                  <c:v>144.4</c:v>
                </c:pt>
                <c:pt idx="25">
                  <c:v>143</c:v>
                </c:pt>
                <c:pt idx="26">
                  <c:v>143.6</c:v>
                </c:pt>
                <c:pt idx="27">
                  <c:v>137.7</c:v>
                </c:pt>
                <c:pt idx="28">
                  <c:v>143.5</c:v>
                </c:pt>
                <c:pt idx="29">
                  <c:v>144.6</c:v>
                </c:pt>
                <c:pt idx="30">
                  <c:v>143.2</c:v>
                </c:pt>
                <c:pt idx="31">
                  <c:v>145.1</c:v>
                </c:pt>
                <c:pt idx="32">
                  <c:v>141.9</c:v>
                </c:pt>
                <c:pt idx="33">
                  <c:v>147.9</c:v>
                </c:pt>
                <c:pt idx="34">
                  <c:v>143.6</c:v>
                </c:pt>
                <c:pt idx="35">
                  <c:v>151.3</c:v>
                </c:pt>
                <c:pt idx="36">
                  <c:v>151.9</c:v>
                </c:pt>
                <c:pt idx="37">
                  <c:v>158.4</c:v>
                </c:pt>
                <c:pt idx="38">
                  <c:v>159</c:v>
                </c:pt>
                <c:pt idx="39">
                  <c:v>158.4</c:v>
                </c:pt>
                <c:pt idx="40">
                  <c:v>155.8</c:v>
                </c:pt>
                <c:pt idx="41">
                  <c:v>152.5</c:v>
                </c:pt>
                <c:pt idx="42">
                  <c:v>159.3</c:v>
                </c:pt>
                <c:pt idx="43">
                  <c:v>162.7</c:v>
                </c:pt>
                <c:pt idx="44">
                  <c:v>158.9</c:v>
                </c:pt>
                <c:pt idx="45">
                  <c:v>163.1</c:v>
                </c:pt>
                <c:pt idx="46">
                  <c:v>155.9</c:v>
                </c:pt>
                <c:pt idx="47">
                  <c:v>155.4</c:v>
                </c:pt>
                <c:pt idx="48">
                  <c:v/>
                </c:pt>
                <c:pt idx="49">
                  <c:v/>
                </c:pt>
                <c:pt idx="50">
                  <c:v/>
                </c:pt>
                <c:pt idx="51">
                  <c:v/>
                </c:pt>
                <c:pt idx="52">
                  <c:v/>
                </c:pt>
                <c:pt idx="53">
                  <c:v/>
                </c:pt>
                <c:pt idx="54">
                  <c:v/>
                </c:pt>
                <c:pt idx="55">
                  <c:v/>
                </c:pt>
              </c:numCache>
            </c:numRef>
          </c:val>
          <c:smooth val="0"/>
        </c:ser>
        <c:ser>
          <c:idx val="1"/>
          <c:order val="1"/>
          <c:tx>
            <c:strRef>
              <c:f>Sheet1!$C$1</c:f>
              <c:strCache>
                <c:ptCount val="1"/>
                <c:pt idx="0">
                  <c:v>Forecast</c:v>
                </c:pt>
              </c:strCache>
            </c:strRef>
          </c:tx>
          <c:spPr>
            <a:solidFill>
              <a:srgbClr val="E4572E"/>
            </a:solidFill>
            <a:ln w="38100" cap="flat">
              <a:solidFill>
                <a:srgbClr val="E4572E"/>
              </a:solidFill>
              <a:prstDash val="solid,dash,sys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Sheet1!$A$2:$A$57</c:f>
              <c:multiLvlStrCache>
                <c:ptCount val="56"/>
                <c:lvl>
                  <c:pt idx="0">
                    <c:v>19:45</c:v>
                  </c:pt>
                  <c:pt idx="1">
                    <c:v>20:00</c:v>
                  </c:pt>
                  <c:pt idx="2">
                    <c:v>20:15</c:v>
                  </c:pt>
                  <c:pt idx="3">
                    <c:v>20:30</c:v>
                  </c:pt>
                  <c:pt idx="4">
                    <c:v>20:45</c:v>
                  </c:pt>
                  <c:pt idx="5">
                    <c:v>21:00</c:v>
                  </c:pt>
                  <c:pt idx="6">
                    <c:v>21:15</c:v>
                  </c:pt>
                  <c:pt idx="7">
                    <c:v>21:30</c:v>
                  </c:pt>
                  <c:pt idx="8">
                    <c:v>21:45</c:v>
                  </c:pt>
                  <c:pt idx="9">
                    <c:v>22:00</c:v>
                  </c:pt>
                  <c:pt idx="10">
                    <c:v>22:15</c:v>
                  </c:pt>
                  <c:pt idx="11">
                    <c:v>22:30</c:v>
                  </c:pt>
                  <c:pt idx="12">
                    <c:v>22:45</c:v>
                  </c:pt>
                  <c:pt idx="13">
                    <c:v>23:00</c:v>
                  </c:pt>
                  <c:pt idx="14">
                    <c:v>23:15</c:v>
                  </c:pt>
                  <c:pt idx="15">
                    <c:v>23:30</c:v>
                  </c:pt>
                  <c:pt idx="16">
                    <c:v>23:45</c:v>
                  </c:pt>
                  <c:pt idx="17">
                    <c:v>00:00</c:v>
                  </c:pt>
                  <c:pt idx="18">
                    <c:v>00:15</c:v>
                  </c:pt>
                  <c:pt idx="19">
                    <c:v>00:30</c:v>
                  </c:pt>
                  <c:pt idx="20">
                    <c:v>00:45</c:v>
                  </c:pt>
                  <c:pt idx="21">
                    <c:v>01:00</c:v>
                  </c:pt>
                  <c:pt idx="22">
                    <c:v>01:15</c:v>
                  </c:pt>
                  <c:pt idx="23">
                    <c:v>01:30</c:v>
                  </c:pt>
                  <c:pt idx="24">
                    <c:v>01:45</c:v>
                  </c:pt>
                  <c:pt idx="25">
                    <c:v>02:00</c:v>
                  </c:pt>
                  <c:pt idx="26">
                    <c:v>02:15</c:v>
                  </c:pt>
                  <c:pt idx="27">
                    <c:v>02:30</c:v>
                  </c:pt>
                  <c:pt idx="28">
                    <c:v>02:45</c:v>
                  </c:pt>
                  <c:pt idx="29">
                    <c:v>03:00</c:v>
                  </c:pt>
                  <c:pt idx="30">
                    <c:v>03:15</c:v>
                  </c:pt>
                  <c:pt idx="31">
                    <c:v>03:30</c:v>
                  </c:pt>
                  <c:pt idx="32">
                    <c:v>03:45</c:v>
                  </c:pt>
                  <c:pt idx="33">
                    <c:v>04:00</c:v>
                  </c:pt>
                  <c:pt idx="34">
                    <c:v>04:15</c:v>
                  </c:pt>
                  <c:pt idx="35">
                    <c:v>04:30</c:v>
                  </c:pt>
                  <c:pt idx="36">
                    <c:v>04:45</c:v>
                  </c:pt>
                  <c:pt idx="37">
                    <c:v>05:00</c:v>
                  </c:pt>
                  <c:pt idx="38">
                    <c:v>05:15</c:v>
                  </c:pt>
                  <c:pt idx="39">
                    <c:v>05:30</c:v>
                  </c:pt>
                  <c:pt idx="40">
                    <c:v>05:45</c:v>
                  </c:pt>
                  <c:pt idx="41">
                    <c:v>06:00</c:v>
                  </c:pt>
                  <c:pt idx="42">
                    <c:v>06:15</c:v>
                  </c:pt>
                  <c:pt idx="43">
                    <c:v>06:30</c:v>
                  </c:pt>
                  <c:pt idx="44">
                    <c:v>06:45</c:v>
                  </c:pt>
                  <c:pt idx="45">
                    <c:v>07:00</c:v>
                  </c:pt>
                  <c:pt idx="46">
                    <c:v>07:15</c:v>
                  </c:pt>
                  <c:pt idx="47">
                    <c:v>07:30</c:v>
                  </c:pt>
                  <c:pt idx="48">
                    <c:v/>
                  </c:pt>
                  <c:pt idx="49">
                    <c:v/>
                  </c:pt>
                  <c:pt idx="50">
                    <c:v/>
                  </c:pt>
                  <c:pt idx="51">
                    <c:v/>
                  </c:pt>
                  <c:pt idx="52">
                    <c:v/>
                  </c:pt>
                  <c:pt idx="53">
                    <c:v/>
                  </c:pt>
                  <c:pt idx="54">
                    <c:v/>
                  </c:pt>
                  <c:pt idx="55">
                    <c:v/>
                  </c:pt>
                </c:lvl>
              </c:multiLvlStrCache>
            </c:multiLvlStrRef>
          </c:cat>
          <c:val>
            <c:numRef>
              <c:f>Sheet1!$C$2:$C$57</c:f>
              <c:numCache>
                <c:formatCode>General</c:formatCode>
                <c:ptCount val="5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155.4</c:v>
                </c:pt>
                <c:pt idx="48">
                  <c:v>159.98193702697753</c:v>
                </c:pt>
                <c:pt idx="49">
                  <c:v>164.5638740539551</c:v>
                </c:pt>
                <c:pt idx="50">
                  <c:v>169.14581108093262</c:v>
                </c:pt>
                <c:pt idx="51">
                  <c:v>173.72774810791014</c:v>
                </c:pt>
                <c:pt idx="52">
                  <c:v>178.3096851348877</c:v>
                </c:pt>
                <c:pt idx="53">
                  <c:v>182.89162216186523</c:v>
                </c:pt>
                <c:pt idx="54">
                  <c:v>187.47355918884278</c:v>
                </c:pt>
                <c:pt idx="55">
                  <c:v>192.0554962158203</c:v>
                </c:pt>
              </c:numCache>
            </c:numRef>
          </c:val>
          <c:smooth val="0"/>
        </c:ser>
        <c:ser>
          <c:idx val="2"/>
          <c:order val="2"/>
          <c:tx>
            <c:strRef>
              <c:f>Sheet1!$D$1</c:f>
              <c:strCache>
                <c:ptCount val="1"/>
                <c:pt idx="0">
                  <c:v>180</c:v>
                </c:pt>
              </c:strCache>
            </c:strRef>
          </c:tx>
          <c:spPr>
            <a:solidFill>
              <a:srgbClr val="F2A541"/>
            </a:solidFill>
            <a:ln w="38100" cap="flat">
              <a:solidFill>
                <a:srgbClr val="F2A541"/>
              </a:solidFill>
              <a:prstDash val="solid,dash,sys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Sheet1!$A$2:$A$57</c:f>
              <c:multiLvlStrCache>
                <c:ptCount val="56"/>
                <c:lvl>
                  <c:pt idx="0">
                    <c:v>19:45</c:v>
                  </c:pt>
                  <c:pt idx="1">
                    <c:v>20:00</c:v>
                  </c:pt>
                  <c:pt idx="2">
                    <c:v>20:15</c:v>
                  </c:pt>
                  <c:pt idx="3">
                    <c:v>20:30</c:v>
                  </c:pt>
                  <c:pt idx="4">
                    <c:v>20:45</c:v>
                  </c:pt>
                  <c:pt idx="5">
                    <c:v>21:00</c:v>
                  </c:pt>
                  <c:pt idx="6">
                    <c:v>21:15</c:v>
                  </c:pt>
                  <c:pt idx="7">
                    <c:v>21:30</c:v>
                  </c:pt>
                  <c:pt idx="8">
                    <c:v>21:45</c:v>
                  </c:pt>
                  <c:pt idx="9">
                    <c:v>22:00</c:v>
                  </c:pt>
                  <c:pt idx="10">
                    <c:v>22:15</c:v>
                  </c:pt>
                  <c:pt idx="11">
                    <c:v>22:30</c:v>
                  </c:pt>
                  <c:pt idx="12">
                    <c:v>22:45</c:v>
                  </c:pt>
                  <c:pt idx="13">
                    <c:v>23:00</c:v>
                  </c:pt>
                  <c:pt idx="14">
                    <c:v>23:15</c:v>
                  </c:pt>
                  <c:pt idx="15">
                    <c:v>23:30</c:v>
                  </c:pt>
                  <c:pt idx="16">
                    <c:v>23:45</c:v>
                  </c:pt>
                  <c:pt idx="17">
                    <c:v>00:00</c:v>
                  </c:pt>
                  <c:pt idx="18">
                    <c:v>00:15</c:v>
                  </c:pt>
                  <c:pt idx="19">
                    <c:v>00:30</c:v>
                  </c:pt>
                  <c:pt idx="20">
                    <c:v>00:45</c:v>
                  </c:pt>
                  <c:pt idx="21">
                    <c:v>01:00</c:v>
                  </c:pt>
                  <c:pt idx="22">
                    <c:v>01:15</c:v>
                  </c:pt>
                  <c:pt idx="23">
                    <c:v>01:30</c:v>
                  </c:pt>
                  <c:pt idx="24">
                    <c:v>01:45</c:v>
                  </c:pt>
                  <c:pt idx="25">
                    <c:v>02:00</c:v>
                  </c:pt>
                  <c:pt idx="26">
                    <c:v>02:15</c:v>
                  </c:pt>
                  <c:pt idx="27">
                    <c:v>02:30</c:v>
                  </c:pt>
                  <c:pt idx="28">
                    <c:v>02:45</c:v>
                  </c:pt>
                  <c:pt idx="29">
                    <c:v>03:00</c:v>
                  </c:pt>
                  <c:pt idx="30">
                    <c:v>03:15</c:v>
                  </c:pt>
                  <c:pt idx="31">
                    <c:v>03:30</c:v>
                  </c:pt>
                  <c:pt idx="32">
                    <c:v>03:45</c:v>
                  </c:pt>
                  <c:pt idx="33">
                    <c:v>04:00</c:v>
                  </c:pt>
                  <c:pt idx="34">
                    <c:v>04:15</c:v>
                  </c:pt>
                  <c:pt idx="35">
                    <c:v>04:30</c:v>
                  </c:pt>
                  <c:pt idx="36">
                    <c:v>04:45</c:v>
                  </c:pt>
                  <c:pt idx="37">
                    <c:v>05:00</c:v>
                  </c:pt>
                  <c:pt idx="38">
                    <c:v>05:15</c:v>
                  </c:pt>
                  <c:pt idx="39">
                    <c:v>05:30</c:v>
                  </c:pt>
                  <c:pt idx="40">
                    <c:v>05:45</c:v>
                  </c:pt>
                  <c:pt idx="41">
                    <c:v>06:00</c:v>
                  </c:pt>
                  <c:pt idx="42">
                    <c:v>06:15</c:v>
                  </c:pt>
                  <c:pt idx="43">
                    <c:v>06:30</c:v>
                  </c:pt>
                  <c:pt idx="44">
                    <c:v>06:45</c:v>
                  </c:pt>
                  <c:pt idx="45">
                    <c:v>07:00</c:v>
                  </c:pt>
                  <c:pt idx="46">
                    <c:v>07:15</c:v>
                  </c:pt>
                  <c:pt idx="47">
                    <c:v>07:30</c:v>
                  </c:pt>
                  <c:pt idx="48">
                    <c:v/>
                  </c:pt>
                  <c:pt idx="49">
                    <c:v/>
                  </c:pt>
                  <c:pt idx="50">
                    <c:v/>
                  </c:pt>
                  <c:pt idx="51">
                    <c:v/>
                  </c:pt>
                  <c:pt idx="52">
                    <c:v/>
                  </c:pt>
                  <c:pt idx="53">
                    <c:v/>
                  </c:pt>
                  <c:pt idx="54">
                    <c:v/>
                  </c:pt>
                  <c:pt idx="55">
                    <c:v/>
                  </c:pt>
                </c:lvl>
              </c:multiLvlStrCache>
            </c:multiLvlStrRef>
          </c:cat>
          <c:val>
            <c:numRef>
              <c:f>Sheet1!$D$2:$D$57</c:f>
              <c:numCache>
                <c:formatCode>General</c:formatCode>
                <c:ptCount val="56"/>
                <c:pt idx="0">
                  <c:v>180</c:v>
                </c:pt>
                <c:pt idx="1">
                  <c:v>180</c:v>
                </c:pt>
                <c:pt idx="2">
                  <c:v>180</c:v>
                </c:pt>
                <c:pt idx="3">
                  <c:v>180</c:v>
                </c:pt>
                <c:pt idx="4">
                  <c:v>180</c:v>
                </c:pt>
                <c:pt idx="5">
                  <c:v>180</c:v>
                </c:pt>
                <c:pt idx="6">
                  <c:v>180</c:v>
                </c:pt>
                <c:pt idx="7">
                  <c:v>180</c:v>
                </c:pt>
                <c:pt idx="8">
                  <c:v>180</c:v>
                </c:pt>
                <c:pt idx="9">
                  <c:v>180</c:v>
                </c:pt>
                <c:pt idx="10">
                  <c:v>180</c:v>
                </c:pt>
                <c:pt idx="11">
                  <c:v>180</c:v>
                </c:pt>
                <c:pt idx="12">
                  <c:v>180</c:v>
                </c:pt>
                <c:pt idx="13">
                  <c:v>180</c:v>
                </c:pt>
                <c:pt idx="14">
                  <c:v>180</c:v>
                </c:pt>
                <c:pt idx="15">
                  <c:v>180</c:v>
                </c:pt>
                <c:pt idx="16">
                  <c:v>180</c:v>
                </c:pt>
                <c:pt idx="17">
                  <c:v>180</c:v>
                </c:pt>
                <c:pt idx="18">
                  <c:v>180</c:v>
                </c:pt>
                <c:pt idx="19">
                  <c:v>180</c:v>
                </c:pt>
                <c:pt idx="20">
                  <c:v>180</c:v>
                </c:pt>
                <c:pt idx="21">
                  <c:v>180</c:v>
                </c:pt>
                <c:pt idx="22">
                  <c:v>180</c:v>
                </c:pt>
                <c:pt idx="23">
                  <c:v>180</c:v>
                </c:pt>
                <c:pt idx="24">
                  <c:v>180</c:v>
                </c:pt>
                <c:pt idx="25">
                  <c:v>180</c:v>
                </c:pt>
                <c:pt idx="26">
                  <c:v>180</c:v>
                </c:pt>
                <c:pt idx="27">
                  <c:v>180</c:v>
                </c:pt>
                <c:pt idx="28">
                  <c:v>180</c:v>
                </c:pt>
                <c:pt idx="29">
                  <c:v>180</c:v>
                </c:pt>
                <c:pt idx="30">
                  <c:v>180</c:v>
                </c:pt>
                <c:pt idx="31">
                  <c:v>180</c:v>
                </c:pt>
                <c:pt idx="32">
                  <c:v>180</c:v>
                </c:pt>
                <c:pt idx="33">
                  <c:v>180</c:v>
                </c:pt>
                <c:pt idx="34">
                  <c:v>180</c:v>
                </c:pt>
                <c:pt idx="35">
                  <c:v>180</c:v>
                </c:pt>
                <c:pt idx="36">
                  <c:v>180</c:v>
                </c:pt>
                <c:pt idx="37">
                  <c:v>180</c:v>
                </c:pt>
                <c:pt idx="38">
                  <c:v>180</c:v>
                </c:pt>
                <c:pt idx="39">
                  <c:v>180</c:v>
                </c:pt>
                <c:pt idx="40">
                  <c:v>180</c:v>
                </c:pt>
                <c:pt idx="41">
                  <c:v>180</c:v>
                </c:pt>
                <c:pt idx="42">
                  <c:v>180</c:v>
                </c:pt>
                <c:pt idx="43">
                  <c:v>180</c:v>
                </c:pt>
                <c:pt idx="44">
                  <c:v>180</c:v>
                </c:pt>
                <c:pt idx="45">
                  <c:v>180</c:v>
                </c:pt>
                <c:pt idx="46">
                  <c:v>180</c:v>
                </c:pt>
                <c:pt idx="47">
                  <c:v>180</c:v>
                </c:pt>
                <c:pt idx="48">
                  <c:v>180</c:v>
                </c:pt>
                <c:pt idx="49">
                  <c:v>180</c:v>
                </c:pt>
                <c:pt idx="50">
                  <c:v>180</c:v>
                </c:pt>
                <c:pt idx="51">
                  <c:v>180</c:v>
                </c:pt>
                <c:pt idx="52">
                  <c:v>180</c:v>
                </c:pt>
                <c:pt idx="53">
                  <c:v>180</c:v>
                </c:pt>
                <c:pt idx="54">
                  <c:v>180</c:v>
                </c:pt>
                <c:pt idx="55">
                  <c:v>180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
          <c:min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E7C86"/>
            </a:solidFill>
            <a:effectLst/>
          </c:spPr>
          <c:invertIfNegative val="0"/>
          <c:dLbls>
            <c:numFmt formatCode="0.0%" sourceLinked="0"/>
            <c:txPr>
              <a:bodyPr/>
              <a:lstStyle/>
              <a:p>
                <a:pPr>
                  <a:defRPr b="0" i="0" strike="noStrike" sz="1200" u="none">
                    <a:solidFill>
                      <a:srgbClr val="102A36"/>
                    </a:solidFill>
                    <a:latin typeface="+mn-lt"/>
                  </a:defRPr>
                </a:pPr>
              </a:p>
            </c:txPr>
            <c:showLegendKey val="0"/>
            <c:showVal val="1"/>
            <c:showCatName val="0"/>
            <c:showSerName val="0"/>
            <c:showPercent val="0"/>
            <c:showBubbleSize val="0"/>
            <c:showLeaderLines val="0"/>
          </c:dLbls>
          <c:cat>
            <c:multiLvlStrRef>
              <c:f>Sheet1!$A$2:$A$9</c:f>
              <c:multiLvlStrCache>
                <c:ptCount val="8"/>
                <c:lvl>
                  <c:pt idx="0">
                    <c:v>24 h mean glucose</c:v>
                  </c:pt>
                  <c:pt idx="1">
                    <c:v>Time in range (24 h)</c:v>
                  </c:pt>
                  <c:pt idx="2">
                    <c:v>Time above 180 (24 h)</c:v>
                  </c:pt>
                  <c:pt idx="3">
                    <c:v>Steps, last hour</c:v>
                  </c:pt>
                  <c:pt idx="4">
                    <c:v>Peak glucose (3 h)</c:v>
                  </c:pt>
                  <c:pt idx="5">
                    <c:v>Carbs, last 3 hours</c:v>
                  </c:pt>
                  <c:pt idx="6">
                    <c:v>Time of day</c:v>
                  </c:pt>
                  <c:pt idx="7">
                    <c:v>Diet: lower-carb</c:v>
                  </c:pt>
                </c:lvl>
              </c:multiLvlStrCache>
            </c:multiLvlStrRef>
          </c:cat>
          <c:val>
            <c:numRef>
              <c:f>Sheet1!$B$2:$B$9</c:f>
              <c:numCache>
                <c:formatCode>General</c:formatCode>
                <c:ptCount val="8"/>
                <c:pt idx="0">
                  <c:v>0.1974</c:v>
                </c:pt>
                <c:pt idx="1">
                  <c:v>0.0771</c:v>
                </c:pt>
                <c:pt idx="2">
                  <c:v>0.0744</c:v>
                </c:pt>
                <c:pt idx="3">
                  <c:v>0.0658</c:v>
                </c:pt>
                <c:pt idx="4">
                  <c:v>0.0424</c:v>
                </c:pt>
                <c:pt idx="5">
                  <c:v>0.0409</c:v>
                </c:pt>
                <c:pt idx="6">
                  <c:v>0.0377</c:v>
                </c:pt>
                <c:pt idx="7">
                  <c:v>0.0345</c:v>
                </c:pt>
              </c:numCache>
            </c:numRef>
          </c:val>
        </c:ser>
        <c:dLbls>
          <c:numFmt formatCode="0.0%" sourceLinked="0"/>
          <c:txPr>
            <a:bodyPr/>
            <a:lstStyle/>
            <a:p>
              <a:pPr>
                <a:defRPr b="0" i="0" strike="noStrike" sz="1200" u="none">
                  <a:solidFill>
                    <a:srgbClr val="102A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02A3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 baseline (no change)</c:v>
                </c:pt>
              </c:strCache>
            </c:strRef>
          </c:tx>
          <c:spPr>
            <a:solidFill>
              <a:srgbClr val="5B7C8D"/>
            </a:solidFill>
            <a:effectLst/>
          </c:spPr>
          <c:invertIfNegative val="0"/>
          <c:dLbls>
            <c:numFmt formatCode="0.0" sourceLinked="0"/>
            <c:txPr>
              <a:bodyPr/>
              <a:lstStyle/>
              <a:p>
                <a:pPr>
                  <a:defRPr b="0" i="0" strike="noStrike" sz="1400" u="none">
                    <a:solidFill>
                      <a:srgbClr val="102A36"/>
                    </a:solidFill>
                    <a:latin typeface="+mn-lt"/>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Sheet1!$B$2:$B$3</c:f>
              <c:numCache>
                <c:formatCode>General</c:formatCode>
                <c:ptCount val="2"/>
                <c:pt idx="0">
                  <c:v>22.71</c:v>
                </c:pt>
                <c:pt idx="1">
                  <c:v>32.18</c:v>
                </c:pt>
              </c:numCache>
            </c:numRef>
          </c:val>
        </c:ser>
        <c:ser>
          <c:idx val="1"/>
          <c:order val="1"/>
          <c:tx>
            <c:strRef>
              <c:f>Sheet1!$C$1</c:f>
              <c:strCache>
                <c:ptCount val="1"/>
                <c:pt idx="0">
                  <c:v>GlucoTwin XGBoost</c:v>
                </c:pt>
              </c:strCache>
            </c:strRef>
          </c:tx>
          <c:spPr>
            <a:solidFill>
              <a:srgbClr val="0E7C86"/>
            </a:solidFill>
            <a:effectLst/>
          </c:spPr>
          <c:invertIfNegative val="0"/>
          <c:dLbls>
            <c:numFmt formatCode="0.0" sourceLinked="0"/>
            <c:txPr>
              <a:bodyPr/>
              <a:lstStyle/>
              <a:p>
                <a:pPr>
                  <a:defRPr b="0" i="0" strike="noStrike" sz="1400" u="none">
                    <a:solidFill>
                      <a:srgbClr val="102A36"/>
                    </a:solidFill>
                    <a:latin typeface="+mn-lt"/>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Sheet1!$C$2:$C$3</c:f>
              <c:numCache>
                <c:formatCode>General</c:formatCode>
                <c:ptCount val="2"/>
                <c:pt idx="0">
                  <c:v>10.48</c:v>
                </c:pt>
                <c:pt idx="1">
                  <c:v>15.82</c:v>
                </c:pt>
              </c:numCache>
            </c:numRef>
          </c:val>
        </c:ser>
        <c:dLbls>
          <c:numFmt formatCode="0.0" sourceLinked="0"/>
          <c:txPr>
            <a:bodyPr/>
            <a:lstStyle/>
            <a:p>
              <a:pPr>
                <a:defRPr b="0" i="0" strike="noStrike" sz="1400" u="none">
                  <a:solidFill>
                    <a:srgbClr val="102A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02A36"/>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0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Observed CGM</c:v>
                </c:pt>
              </c:strCache>
            </c:strRef>
          </c:tx>
          <c:spPr>
            <a:solidFill>
              <a:srgbClr val="0E7C86"/>
            </a:solidFill>
            <a:ln w="38100" cap="flat">
              <a:solidFill>
                <a:srgbClr val="0E7C86"/>
              </a:solidFill>
              <a:prstDash val="solid,dash,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7C86"/>
              </a:solidFill>
              <a:ln w="9525" cap="flat">
                <a:solidFill>
                  <a:srgbClr val="0E7C86"/>
                </a:solidFill>
                <a:prstDash val="solid"/>
                <a:round/>
              </a:ln>
              <a:effectLst/>
            </c:spPr>
          </c:marker>
          <c:cat>
            <c:multiLvlStrRef>
              <c:f>Sheet1!$A$2:$A$57</c:f>
              <c:multiLvlStrCache>
                <c:ptCount val="56"/>
                <c:lvl>
                  <c:pt idx="0">
                    <c:v>19:45</c:v>
                  </c:pt>
                  <c:pt idx="1">
                    <c:v> </c:v>
                  </c:pt>
                  <c:pt idx="2">
                    <c:v> </c:v>
                  </c:pt>
                  <c:pt idx="3">
                    <c:v> </c:v>
                  </c:pt>
                  <c:pt idx="4">
                    <c:v> </c:v>
                  </c:pt>
                  <c:pt idx="5">
                    <c:v> </c:v>
                  </c:pt>
                  <c:pt idx="6">
                    <c:v> </c:v>
                  </c:pt>
                  <c:pt idx="7">
                    <c:v> </c:v>
                  </c:pt>
                  <c:pt idx="8">
                    <c:v>21:45</c:v>
                  </c:pt>
                  <c:pt idx="9">
                    <c:v> </c:v>
                  </c:pt>
                  <c:pt idx="10">
                    <c:v> </c:v>
                  </c:pt>
                  <c:pt idx="11">
                    <c:v> </c:v>
                  </c:pt>
                  <c:pt idx="12">
                    <c:v> </c:v>
                  </c:pt>
                  <c:pt idx="13">
                    <c:v> </c:v>
                  </c:pt>
                  <c:pt idx="14">
                    <c:v> </c:v>
                  </c:pt>
                  <c:pt idx="15">
                    <c:v> </c:v>
                  </c:pt>
                  <c:pt idx="16">
                    <c:v>23:45</c:v>
                  </c:pt>
                  <c:pt idx="17">
                    <c:v> </c:v>
                  </c:pt>
                  <c:pt idx="18">
                    <c:v> </c:v>
                  </c:pt>
                  <c:pt idx="19">
                    <c:v> </c:v>
                  </c:pt>
                  <c:pt idx="20">
                    <c:v> </c:v>
                  </c:pt>
                  <c:pt idx="21">
                    <c:v> </c:v>
                  </c:pt>
                  <c:pt idx="22">
                    <c:v> </c:v>
                  </c:pt>
                  <c:pt idx="23">
                    <c:v> </c:v>
                  </c:pt>
                  <c:pt idx="24">
                    <c:v>01:45</c:v>
                  </c:pt>
                  <c:pt idx="25">
                    <c:v> </c:v>
                  </c:pt>
                  <c:pt idx="26">
                    <c:v> </c:v>
                  </c:pt>
                  <c:pt idx="27">
                    <c:v> </c:v>
                  </c:pt>
                  <c:pt idx="28">
                    <c:v> </c:v>
                  </c:pt>
                  <c:pt idx="29">
                    <c:v> </c:v>
                  </c:pt>
                  <c:pt idx="30">
                    <c:v> </c:v>
                  </c:pt>
                  <c:pt idx="31">
                    <c:v> </c:v>
                  </c:pt>
                  <c:pt idx="32">
                    <c:v>03:45</c:v>
                  </c:pt>
                  <c:pt idx="33">
                    <c:v> </c:v>
                  </c:pt>
                  <c:pt idx="34">
                    <c:v> </c:v>
                  </c:pt>
                  <c:pt idx="35">
                    <c:v> </c:v>
                  </c:pt>
                  <c:pt idx="36">
                    <c:v> </c:v>
                  </c:pt>
                  <c:pt idx="37">
                    <c:v> </c:v>
                  </c:pt>
                  <c:pt idx="38">
                    <c:v> </c:v>
                  </c:pt>
                  <c:pt idx="39">
                    <c:v> </c:v>
                  </c:pt>
                  <c:pt idx="40">
                    <c:v>05:45</c:v>
                  </c:pt>
                  <c:pt idx="41">
                    <c:v> </c:v>
                  </c:pt>
                  <c:pt idx="42">
                    <c:v> </c:v>
                  </c:pt>
                  <c:pt idx="43">
                    <c:v> </c:v>
                  </c:pt>
                  <c:pt idx="44">
                    <c:v> </c:v>
                  </c:pt>
                  <c:pt idx="45">
                    <c:v> </c:v>
                  </c:pt>
                  <c:pt idx="46">
                    <c:v> </c:v>
                  </c:pt>
                  <c:pt idx="47">
                    <c:v> </c:v>
                  </c:pt>
                  <c:pt idx="48">
                    <c:v>07:45</c:v>
                  </c:pt>
                  <c:pt idx="49">
                    <c:v> </c:v>
                  </c:pt>
                  <c:pt idx="50">
                    <c:v> </c:v>
                  </c:pt>
                  <c:pt idx="51">
                    <c:v> </c:v>
                  </c:pt>
                  <c:pt idx="52">
                    <c:v> </c:v>
                  </c:pt>
                  <c:pt idx="53">
                    <c:v> </c:v>
                  </c:pt>
                  <c:pt idx="54">
                    <c:v> </c:v>
                  </c:pt>
                  <c:pt idx="55">
                    <c:v> </c:v>
                  </c:pt>
                </c:lvl>
              </c:multiLvlStrCache>
            </c:multiLvlStrRef>
          </c:cat>
          <c:val>
            <c:numRef>
              <c:f>Sheet1!$B$2:$B$57</c:f>
              <c:numCache>
                <c:formatCode>General</c:formatCode>
                <c:ptCount val="56"/>
                <c:pt idx="0">
                  <c:v>153.5</c:v>
                </c:pt>
                <c:pt idx="1">
                  <c:v>154.5</c:v>
                </c:pt>
                <c:pt idx="2">
                  <c:v>153.8</c:v>
                </c:pt>
                <c:pt idx="3">
                  <c:v>149.4</c:v>
                </c:pt>
                <c:pt idx="4">
                  <c:v>164.8</c:v>
                </c:pt>
                <c:pt idx="5">
                  <c:v>174.1</c:v>
                </c:pt>
                <c:pt idx="6">
                  <c:v>188.6</c:v>
                </c:pt>
                <c:pt idx="7">
                  <c:v>189.2</c:v>
                </c:pt>
                <c:pt idx="8">
                  <c:v>193.2</c:v>
                </c:pt>
                <c:pt idx="9">
                  <c:v>189.7</c:v>
                </c:pt>
                <c:pt idx="10">
                  <c:v>186</c:v>
                </c:pt>
                <c:pt idx="11">
                  <c:v>177.7</c:v>
                </c:pt>
                <c:pt idx="12">
                  <c:v>175.4</c:v>
                </c:pt>
                <c:pt idx="13">
                  <c:v>170.4</c:v>
                </c:pt>
                <c:pt idx="14">
                  <c:v>165.1</c:v>
                </c:pt>
                <c:pt idx="15">
                  <c:v>158.6</c:v>
                </c:pt>
                <c:pt idx="16">
                  <c:v>155.8</c:v>
                </c:pt>
                <c:pt idx="17">
                  <c:v>152.5</c:v>
                </c:pt>
                <c:pt idx="18">
                  <c:v>154.4</c:v>
                </c:pt>
                <c:pt idx="19">
                  <c:v>153.3</c:v>
                </c:pt>
                <c:pt idx="20">
                  <c:v>154.2</c:v>
                </c:pt>
                <c:pt idx="21">
                  <c:v>148.1</c:v>
                </c:pt>
                <c:pt idx="22">
                  <c:v>146.9</c:v>
                </c:pt>
                <c:pt idx="23">
                  <c:v>141.7</c:v>
                </c:pt>
                <c:pt idx="24">
                  <c:v>144.4</c:v>
                </c:pt>
                <c:pt idx="25">
                  <c:v>143</c:v>
                </c:pt>
                <c:pt idx="26">
                  <c:v>143.6</c:v>
                </c:pt>
                <c:pt idx="27">
                  <c:v>137.7</c:v>
                </c:pt>
                <c:pt idx="28">
                  <c:v>143.5</c:v>
                </c:pt>
                <c:pt idx="29">
                  <c:v>144.6</c:v>
                </c:pt>
                <c:pt idx="30">
                  <c:v>143.2</c:v>
                </c:pt>
                <c:pt idx="31">
                  <c:v>145.1</c:v>
                </c:pt>
                <c:pt idx="32">
                  <c:v>141.9</c:v>
                </c:pt>
                <c:pt idx="33">
                  <c:v>147.9</c:v>
                </c:pt>
                <c:pt idx="34">
                  <c:v>143.6</c:v>
                </c:pt>
                <c:pt idx="35">
                  <c:v>151.3</c:v>
                </c:pt>
                <c:pt idx="36">
                  <c:v>151.9</c:v>
                </c:pt>
                <c:pt idx="37">
                  <c:v>158.4</c:v>
                </c:pt>
                <c:pt idx="38">
                  <c:v>159</c:v>
                </c:pt>
                <c:pt idx="39">
                  <c:v>158.4</c:v>
                </c:pt>
                <c:pt idx="40">
                  <c:v>155.8</c:v>
                </c:pt>
                <c:pt idx="41">
                  <c:v>152.5</c:v>
                </c:pt>
                <c:pt idx="42">
                  <c:v>159.3</c:v>
                </c:pt>
                <c:pt idx="43">
                  <c:v>162.7</c:v>
                </c:pt>
                <c:pt idx="44">
                  <c:v>158.9</c:v>
                </c:pt>
                <c:pt idx="45">
                  <c:v>163.1</c:v>
                </c:pt>
                <c:pt idx="46">
                  <c:v>155.9</c:v>
                </c:pt>
                <c:pt idx="47">
                  <c:v>155.4</c:v>
                </c:pt>
                <c:pt idx="48">
                  <c:v/>
                </c:pt>
                <c:pt idx="49">
                  <c:v/>
                </c:pt>
                <c:pt idx="50">
                  <c:v/>
                </c:pt>
                <c:pt idx="51">
                  <c:v/>
                </c:pt>
                <c:pt idx="52">
                  <c:v/>
                </c:pt>
                <c:pt idx="53">
                  <c:v/>
                </c:pt>
                <c:pt idx="54">
                  <c:v/>
                </c:pt>
                <c:pt idx="55">
                  <c:v/>
                </c:pt>
              </c:numCache>
            </c:numRef>
          </c:val>
          <c:smooth val="0"/>
        </c:ser>
        <c:ser>
          <c:idx val="1"/>
          <c:order val="1"/>
          <c:tx>
            <c:strRef>
              <c:f>Sheet1!$C$1</c:f>
              <c:strCache>
                <c:ptCount val="1"/>
                <c:pt idx="0">
                  <c:v>AI forecast</c:v>
                </c:pt>
              </c:strCache>
            </c:strRef>
          </c:tx>
          <c:spPr>
            <a:solidFill>
              <a:srgbClr val="E4572E"/>
            </a:solidFill>
            <a:ln w="38100" cap="flat">
              <a:solidFill>
                <a:srgbClr val="E4572E"/>
              </a:solidFill>
              <a:prstDash val="solid,dash,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Sheet1!$A$2:$A$57</c:f>
              <c:multiLvlStrCache>
                <c:ptCount val="56"/>
                <c:lvl>
                  <c:pt idx="0">
                    <c:v>19:45</c:v>
                  </c:pt>
                  <c:pt idx="1">
                    <c:v> </c:v>
                  </c:pt>
                  <c:pt idx="2">
                    <c:v> </c:v>
                  </c:pt>
                  <c:pt idx="3">
                    <c:v> </c:v>
                  </c:pt>
                  <c:pt idx="4">
                    <c:v> </c:v>
                  </c:pt>
                  <c:pt idx="5">
                    <c:v> </c:v>
                  </c:pt>
                  <c:pt idx="6">
                    <c:v> </c:v>
                  </c:pt>
                  <c:pt idx="7">
                    <c:v> </c:v>
                  </c:pt>
                  <c:pt idx="8">
                    <c:v>21:45</c:v>
                  </c:pt>
                  <c:pt idx="9">
                    <c:v> </c:v>
                  </c:pt>
                  <c:pt idx="10">
                    <c:v> </c:v>
                  </c:pt>
                  <c:pt idx="11">
                    <c:v> </c:v>
                  </c:pt>
                  <c:pt idx="12">
                    <c:v> </c:v>
                  </c:pt>
                  <c:pt idx="13">
                    <c:v> </c:v>
                  </c:pt>
                  <c:pt idx="14">
                    <c:v> </c:v>
                  </c:pt>
                  <c:pt idx="15">
                    <c:v> </c:v>
                  </c:pt>
                  <c:pt idx="16">
                    <c:v>23:45</c:v>
                  </c:pt>
                  <c:pt idx="17">
                    <c:v> </c:v>
                  </c:pt>
                  <c:pt idx="18">
                    <c:v> </c:v>
                  </c:pt>
                  <c:pt idx="19">
                    <c:v> </c:v>
                  </c:pt>
                  <c:pt idx="20">
                    <c:v> </c:v>
                  </c:pt>
                  <c:pt idx="21">
                    <c:v> </c:v>
                  </c:pt>
                  <c:pt idx="22">
                    <c:v> </c:v>
                  </c:pt>
                  <c:pt idx="23">
                    <c:v> </c:v>
                  </c:pt>
                  <c:pt idx="24">
                    <c:v>01:45</c:v>
                  </c:pt>
                  <c:pt idx="25">
                    <c:v> </c:v>
                  </c:pt>
                  <c:pt idx="26">
                    <c:v> </c:v>
                  </c:pt>
                  <c:pt idx="27">
                    <c:v> </c:v>
                  </c:pt>
                  <c:pt idx="28">
                    <c:v> </c:v>
                  </c:pt>
                  <c:pt idx="29">
                    <c:v> </c:v>
                  </c:pt>
                  <c:pt idx="30">
                    <c:v> </c:v>
                  </c:pt>
                  <c:pt idx="31">
                    <c:v> </c:v>
                  </c:pt>
                  <c:pt idx="32">
                    <c:v>03:45</c:v>
                  </c:pt>
                  <c:pt idx="33">
                    <c:v> </c:v>
                  </c:pt>
                  <c:pt idx="34">
                    <c:v> </c:v>
                  </c:pt>
                  <c:pt idx="35">
                    <c:v> </c:v>
                  </c:pt>
                  <c:pt idx="36">
                    <c:v> </c:v>
                  </c:pt>
                  <c:pt idx="37">
                    <c:v> </c:v>
                  </c:pt>
                  <c:pt idx="38">
                    <c:v> </c:v>
                  </c:pt>
                  <c:pt idx="39">
                    <c:v> </c:v>
                  </c:pt>
                  <c:pt idx="40">
                    <c:v>05:45</c:v>
                  </c:pt>
                  <c:pt idx="41">
                    <c:v> </c:v>
                  </c:pt>
                  <c:pt idx="42">
                    <c:v> </c:v>
                  </c:pt>
                  <c:pt idx="43">
                    <c:v> </c:v>
                  </c:pt>
                  <c:pt idx="44">
                    <c:v> </c:v>
                  </c:pt>
                  <c:pt idx="45">
                    <c:v> </c:v>
                  </c:pt>
                  <c:pt idx="46">
                    <c:v> </c:v>
                  </c:pt>
                  <c:pt idx="47">
                    <c:v> </c:v>
                  </c:pt>
                  <c:pt idx="48">
                    <c:v>07:45</c:v>
                  </c:pt>
                  <c:pt idx="49">
                    <c:v> </c:v>
                  </c:pt>
                  <c:pt idx="50">
                    <c:v> </c:v>
                  </c:pt>
                  <c:pt idx="51">
                    <c:v> </c:v>
                  </c:pt>
                  <c:pt idx="52">
                    <c:v> </c:v>
                  </c:pt>
                  <c:pt idx="53">
                    <c:v> </c:v>
                  </c:pt>
                  <c:pt idx="54">
                    <c:v> </c:v>
                  </c:pt>
                  <c:pt idx="55">
                    <c:v> </c:v>
                  </c:pt>
                </c:lvl>
              </c:multiLvlStrCache>
            </c:multiLvlStrRef>
          </c:cat>
          <c:val>
            <c:numRef>
              <c:f>Sheet1!$C$2:$C$57</c:f>
              <c:numCache>
                <c:formatCode>General</c:formatCode>
                <c:ptCount val="5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155.4</c:v>
                </c:pt>
                <c:pt idx="48">
                  <c:v>159.98193702697753</c:v>
                </c:pt>
                <c:pt idx="49">
                  <c:v>164.5638740539551</c:v>
                </c:pt>
                <c:pt idx="50">
                  <c:v>169.14581108093262</c:v>
                </c:pt>
                <c:pt idx="51">
                  <c:v>173.72774810791014</c:v>
                </c:pt>
                <c:pt idx="52">
                  <c:v>178.3096851348877</c:v>
                </c:pt>
                <c:pt idx="53">
                  <c:v>182.89162216186523</c:v>
                </c:pt>
                <c:pt idx="54">
                  <c:v>187.47355918884278</c:v>
                </c:pt>
                <c:pt idx="55">
                  <c:v>192.0554962158203</c:v>
                </c:pt>
              </c:numCache>
            </c:numRef>
          </c:val>
          <c:smooth val="0"/>
        </c:ser>
        <c:ser>
          <c:idx val="2"/>
          <c:order val="2"/>
          <c:tx>
            <c:strRef>
              <c:f>Sheet1!$D$1</c:f>
              <c:strCache>
                <c:ptCount val="1"/>
                <c:pt idx="0">
                  <c:v>180 mg/dL threshold</c:v>
                </c:pt>
              </c:strCache>
            </c:strRef>
          </c:tx>
          <c:spPr>
            <a:solidFill>
              <a:srgbClr val="F2A541"/>
            </a:solidFill>
            <a:ln w="38100" cap="flat">
              <a:solidFill>
                <a:srgbClr val="F2A541"/>
              </a:solidFill>
              <a:prstDash val="solid,dash,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Sheet1!$A$2:$A$57</c:f>
              <c:multiLvlStrCache>
                <c:ptCount val="56"/>
                <c:lvl>
                  <c:pt idx="0">
                    <c:v>19:45</c:v>
                  </c:pt>
                  <c:pt idx="1">
                    <c:v> </c:v>
                  </c:pt>
                  <c:pt idx="2">
                    <c:v> </c:v>
                  </c:pt>
                  <c:pt idx="3">
                    <c:v> </c:v>
                  </c:pt>
                  <c:pt idx="4">
                    <c:v> </c:v>
                  </c:pt>
                  <c:pt idx="5">
                    <c:v> </c:v>
                  </c:pt>
                  <c:pt idx="6">
                    <c:v> </c:v>
                  </c:pt>
                  <c:pt idx="7">
                    <c:v> </c:v>
                  </c:pt>
                  <c:pt idx="8">
                    <c:v>21:45</c:v>
                  </c:pt>
                  <c:pt idx="9">
                    <c:v> </c:v>
                  </c:pt>
                  <c:pt idx="10">
                    <c:v> </c:v>
                  </c:pt>
                  <c:pt idx="11">
                    <c:v> </c:v>
                  </c:pt>
                  <c:pt idx="12">
                    <c:v> </c:v>
                  </c:pt>
                  <c:pt idx="13">
                    <c:v> </c:v>
                  </c:pt>
                  <c:pt idx="14">
                    <c:v> </c:v>
                  </c:pt>
                  <c:pt idx="15">
                    <c:v> </c:v>
                  </c:pt>
                  <c:pt idx="16">
                    <c:v>23:45</c:v>
                  </c:pt>
                  <c:pt idx="17">
                    <c:v> </c:v>
                  </c:pt>
                  <c:pt idx="18">
                    <c:v> </c:v>
                  </c:pt>
                  <c:pt idx="19">
                    <c:v> </c:v>
                  </c:pt>
                  <c:pt idx="20">
                    <c:v> </c:v>
                  </c:pt>
                  <c:pt idx="21">
                    <c:v> </c:v>
                  </c:pt>
                  <c:pt idx="22">
                    <c:v> </c:v>
                  </c:pt>
                  <c:pt idx="23">
                    <c:v> </c:v>
                  </c:pt>
                  <c:pt idx="24">
                    <c:v>01:45</c:v>
                  </c:pt>
                  <c:pt idx="25">
                    <c:v> </c:v>
                  </c:pt>
                  <c:pt idx="26">
                    <c:v> </c:v>
                  </c:pt>
                  <c:pt idx="27">
                    <c:v> </c:v>
                  </c:pt>
                  <c:pt idx="28">
                    <c:v> </c:v>
                  </c:pt>
                  <c:pt idx="29">
                    <c:v> </c:v>
                  </c:pt>
                  <c:pt idx="30">
                    <c:v> </c:v>
                  </c:pt>
                  <c:pt idx="31">
                    <c:v> </c:v>
                  </c:pt>
                  <c:pt idx="32">
                    <c:v>03:45</c:v>
                  </c:pt>
                  <c:pt idx="33">
                    <c:v> </c:v>
                  </c:pt>
                  <c:pt idx="34">
                    <c:v> </c:v>
                  </c:pt>
                  <c:pt idx="35">
                    <c:v> </c:v>
                  </c:pt>
                  <c:pt idx="36">
                    <c:v> </c:v>
                  </c:pt>
                  <c:pt idx="37">
                    <c:v> </c:v>
                  </c:pt>
                  <c:pt idx="38">
                    <c:v> </c:v>
                  </c:pt>
                  <c:pt idx="39">
                    <c:v> </c:v>
                  </c:pt>
                  <c:pt idx="40">
                    <c:v>05:45</c:v>
                  </c:pt>
                  <c:pt idx="41">
                    <c:v> </c:v>
                  </c:pt>
                  <c:pt idx="42">
                    <c:v> </c:v>
                  </c:pt>
                  <c:pt idx="43">
                    <c:v> </c:v>
                  </c:pt>
                  <c:pt idx="44">
                    <c:v> </c:v>
                  </c:pt>
                  <c:pt idx="45">
                    <c:v> </c:v>
                  </c:pt>
                  <c:pt idx="46">
                    <c:v> </c:v>
                  </c:pt>
                  <c:pt idx="47">
                    <c:v> </c:v>
                  </c:pt>
                  <c:pt idx="48">
                    <c:v>07:45</c:v>
                  </c:pt>
                  <c:pt idx="49">
                    <c:v> </c:v>
                  </c:pt>
                  <c:pt idx="50">
                    <c:v> </c:v>
                  </c:pt>
                  <c:pt idx="51">
                    <c:v> </c:v>
                  </c:pt>
                  <c:pt idx="52">
                    <c:v> </c:v>
                  </c:pt>
                  <c:pt idx="53">
                    <c:v> </c:v>
                  </c:pt>
                  <c:pt idx="54">
                    <c:v> </c:v>
                  </c:pt>
                  <c:pt idx="55">
                    <c:v> </c:v>
                  </c:pt>
                </c:lvl>
              </c:multiLvlStrCache>
            </c:multiLvlStrRef>
          </c:cat>
          <c:val>
            <c:numRef>
              <c:f>Sheet1!$D$2:$D$57</c:f>
              <c:numCache>
                <c:formatCode>General</c:formatCode>
                <c:ptCount val="56"/>
                <c:pt idx="0">
                  <c:v>180</c:v>
                </c:pt>
                <c:pt idx="1">
                  <c:v>180</c:v>
                </c:pt>
                <c:pt idx="2">
                  <c:v>180</c:v>
                </c:pt>
                <c:pt idx="3">
                  <c:v>180</c:v>
                </c:pt>
                <c:pt idx="4">
                  <c:v>180</c:v>
                </c:pt>
                <c:pt idx="5">
                  <c:v>180</c:v>
                </c:pt>
                <c:pt idx="6">
                  <c:v>180</c:v>
                </c:pt>
                <c:pt idx="7">
                  <c:v>180</c:v>
                </c:pt>
                <c:pt idx="8">
                  <c:v>180</c:v>
                </c:pt>
                <c:pt idx="9">
                  <c:v>180</c:v>
                </c:pt>
                <c:pt idx="10">
                  <c:v>180</c:v>
                </c:pt>
                <c:pt idx="11">
                  <c:v>180</c:v>
                </c:pt>
                <c:pt idx="12">
                  <c:v>180</c:v>
                </c:pt>
                <c:pt idx="13">
                  <c:v>180</c:v>
                </c:pt>
                <c:pt idx="14">
                  <c:v>180</c:v>
                </c:pt>
                <c:pt idx="15">
                  <c:v>180</c:v>
                </c:pt>
                <c:pt idx="16">
                  <c:v>180</c:v>
                </c:pt>
                <c:pt idx="17">
                  <c:v>180</c:v>
                </c:pt>
                <c:pt idx="18">
                  <c:v>180</c:v>
                </c:pt>
                <c:pt idx="19">
                  <c:v>180</c:v>
                </c:pt>
                <c:pt idx="20">
                  <c:v>180</c:v>
                </c:pt>
                <c:pt idx="21">
                  <c:v>180</c:v>
                </c:pt>
                <c:pt idx="22">
                  <c:v>180</c:v>
                </c:pt>
                <c:pt idx="23">
                  <c:v>180</c:v>
                </c:pt>
                <c:pt idx="24">
                  <c:v>180</c:v>
                </c:pt>
                <c:pt idx="25">
                  <c:v>180</c:v>
                </c:pt>
                <c:pt idx="26">
                  <c:v>180</c:v>
                </c:pt>
                <c:pt idx="27">
                  <c:v>180</c:v>
                </c:pt>
                <c:pt idx="28">
                  <c:v>180</c:v>
                </c:pt>
                <c:pt idx="29">
                  <c:v>180</c:v>
                </c:pt>
                <c:pt idx="30">
                  <c:v>180</c:v>
                </c:pt>
                <c:pt idx="31">
                  <c:v>180</c:v>
                </c:pt>
                <c:pt idx="32">
                  <c:v>180</c:v>
                </c:pt>
                <c:pt idx="33">
                  <c:v>180</c:v>
                </c:pt>
                <c:pt idx="34">
                  <c:v>180</c:v>
                </c:pt>
                <c:pt idx="35">
                  <c:v>180</c:v>
                </c:pt>
                <c:pt idx="36">
                  <c:v>180</c:v>
                </c:pt>
                <c:pt idx="37">
                  <c:v>180</c:v>
                </c:pt>
                <c:pt idx="38">
                  <c:v>180</c:v>
                </c:pt>
                <c:pt idx="39">
                  <c:v>180</c:v>
                </c:pt>
                <c:pt idx="40">
                  <c:v>180</c:v>
                </c:pt>
                <c:pt idx="41">
                  <c:v>180</c:v>
                </c:pt>
                <c:pt idx="42">
                  <c:v>180</c:v>
                </c:pt>
                <c:pt idx="43">
                  <c:v>180</c:v>
                </c:pt>
                <c:pt idx="44">
                  <c:v>180</c:v>
                </c:pt>
                <c:pt idx="45">
                  <c:v>180</c:v>
                </c:pt>
                <c:pt idx="46">
                  <c:v>180</c:v>
                </c:pt>
                <c:pt idx="47">
                  <c:v>180</c:v>
                </c:pt>
                <c:pt idx="48">
                  <c:v>180</c:v>
                </c:pt>
                <c:pt idx="49">
                  <c:v>180</c:v>
                </c:pt>
                <c:pt idx="50">
                  <c:v>180</c:v>
                </c:pt>
                <c:pt idx="51">
                  <c:v>180</c:v>
                </c:pt>
                <c:pt idx="52">
                  <c:v>180</c:v>
                </c:pt>
                <c:pt idx="53">
                  <c:v>180</c:v>
                </c:pt>
                <c:pt idx="54">
                  <c:v>180</c:v>
                </c:pt>
                <c:pt idx="55">
                  <c:v>180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C8D"/>
                </a:solidFill>
                <a:latin typeface="+mn-lt"/>
              </a:defRPr>
            </a:pPr>
            <a:endParaRPr lang="en-US"/>
          </a:p>
        </c:txPr>
        <c:crossAx val="2094734552"/>
        <c:crosses val="autoZero"/>
        <c:auto val="1"/>
        <c:lblAlgn val="ctr"/>
        <c:noMultiLvlLbl val="1"/>
        <c:tickLblSkip val="8"/>
      </c:catAx>
      <c:valAx>
        <c:axId val="2094734552"/>
        <c:scaling>
          <c:orientation val="minMax"/>
          <c:max val="220"/>
          <c:min val="100"/>
        </c:scaling>
        <c:delete val="0"/>
        <c:axPos val="l"/>
        <c:majorGridlines>
          <c:spPr>
            <a:ln w="9525" cap="flat">
              <a:solidFill>
                <a:srgbClr val="D5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8D"/>
                </a:solidFill>
                <a:latin typeface="+mn-lt"/>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102A36"/>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Current plan</c:v>
                </c:pt>
              </c:strCache>
            </c:strRef>
          </c:tx>
          <c:spPr>
            <a:solidFill>
              <a:srgbClr val="5B7C8D"/>
            </a:solidFill>
            <a:ln w="38100" cap="flat">
              <a:solidFill>
                <a:srgbClr val="5B7C8D"/>
              </a:solidFill>
              <a:prstDash val="dash,solid,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5B7C8D"/>
              </a:solidFill>
              <a:ln w="9525" cap="flat">
                <a:solidFill>
                  <a:srgbClr val="5B7C8D"/>
                </a:solidFill>
                <a:prstDash val="solid"/>
                <a:round/>
              </a:ln>
              <a:effectLst/>
            </c:spPr>
          </c:marker>
          <c:cat>
            <c:multiLvlStrRef>
              <c:f>Sheet1!$A$2:$A$98</c:f>
              <c:multiLvlStrCache>
                <c:ptCount val="97"/>
                <c:lvl>
                  <c:pt idx="0">
                    <c:v>07:30</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11:30</c:v>
                  </c:pt>
                  <c:pt idx="17">
                    <c:v> </c:v>
                  </c:pt>
                  <c:pt idx="18">
                    <c:v> </c:v>
                  </c:pt>
                  <c:pt idx="19">
                    <c:v> </c:v>
                  </c:pt>
                  <c:pt idx="20">
                    <c:v> </c:v>
                  </c:pt>
                  <c:pt idx="21">
                    <c:v> </c:v>
                  </c:pt>
                  <c:pt idx="22">
                    <c:v> </c:v>
                  </c:pt>
                  <c:pt idx="23">
                    <c:v> </c:v>
                  </c:pt>
                  <c:pt idx="24">
                    <c:v> </c:v>
                  </c:pt>
                  <c:pt idx="25">
                    <c:v> </c:v>
                  </c:pt>
                  <c:pt idx="26">
                    <c:v> </c:v>
                  </c:pt>
                  <c:pt idx="27">
                    <c:v> </c:v>
                  </c:pt>
                  <c:pt idx="28">
                    <c:v> </c:v>
                  </c:pt>
                  <c:pt idx="29">
                    <c:v> </c:v>
                  </c:pt>
                  <c:pt idx="30">
                    <c:v> </c:v>
                  </c:pt>
                  <c:pt idx="31">
                    <c:v> </c:v>
                  </c:pt>
                  <c:pt idx="32">
                    <c:v>15:30</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19:30</c:v>
                  </c:pt>
                  <c:pt idx="49">
                    <c:v> </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23:30</c:v>
                  </c:pt>
                  <c:pt idx="65">
                    <c:v> </c:v>
                  </c:pt>
                  <c:pt idx="66">
                    <c:v> </c:v>
                  </c:pt>
                  <c:pt idx="67">
                    <c:v> </c:v>
                  </c:pt>
                  <c:pt idx="68">
                    <c:v> </c:v>
                  </c:pt>
                  <c:pt idx="69">
                    <c:v> </c:v>
                  </c:pt>
                  <c:pt idx="70">
                    <c:v> </c:v>
                  </c:pt>
                  <c:pt idx="71">
                    <c:v> </c:v>
                  </c:pt>
                  <c:pt idx="72">
                    <c:v> </c:v>
                  </c:pt>
                  <c:pt idx="73">
                    <c:v> </c:v>
                  </c:pt>
                  <c:pt idx="74">
                    <c:v> </c:v>
                  </c:pt>
                  <c:pt idx="75">
                    <c:v> </c:v>
                  </c:pt>
                  <c:pt idx="76">
                    <c:v> </c:v>
                  </c:pt>
                  <c:pt idx="77">
                    <c:v> </c:v>
                  </c:pt>
                  <c:pt idx="78">
                    <c:v> </c:v>
                  </c:pt>
                  <c:pt idx="79">
                    <c:v> </c:v>
                  </c:pt>
                  <c:pt idx="80">
                    <c:v>03:30</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07:30</c:v>
                  </c:pt>
                </c:lvl>
              </c:multiLvlStrCache>
            </c:multiLvlStrRef>
          </c:cat>
          <c:val>
            <c:numRef>
              <c:f>Sheet1!$B$2:$B$98</c:f>
              <c:numCache>
                <c:formatCode>General</c:formatCode>
                <c:ptCount val="97"/>
                <c:pt idx="0">
                  <c:v>152</c:v>
                </c:pt>
                <c:pt idx="1">
                  <c:v>151</c:v>
                </c:pt>
                <c:pt idx="2">
                  <c:v>150</c:v>
                </c:pt>
                <c:pt idx="3">
                  <c:v>168</c:v>
                </c:pt>
                <c:pt idx="4">
                  <c:v>192</c:v>
                </c:pt>
                <c:pt idx="5">
                  <c:v>204</c:v>
                </c:pt>
                <c:pt idx="6">
                  <c:v>205</c:v>
                </c:pt>
                <c:pt idx="7">
                  <c:v>199</c:v>
                </c:pt>
                <c:pt idx="8">
                  <c:v>190</c:v>
                </c:pt>
                <c:pt idx="9">
                  <c:v>180</c:v>
                </c:pt>
                <c:pt idx="10">
                  <c:v>171</c:v>
                </c:pt>
                <c:pt idx="11">
                  <c:v>164</c:v>
                </c:pt>
                <c:pt idx="12">
                  <c:v>158</c:v>
                </c:pt>
                <c:pt idx="13">
                  <c:v>154</c:v>
                </c:pt>
                <c:pt idx="14">
                  <c:v>151</c:v>
                </c:pt>
                <c:pt idx="15">
                  <c:v>149</c:v>
                </c:pt>
                <c:pt idx="16">
                  <c:v>147</c:v>
                </c:pt>
                <c:pt idx="17">
                  <c:v>146</c:v>
                </c:pt>
                <c:pt idx="18">
                  <c:v>146</c:v>
                </c:pt>
                <c:pt idx="19">
                  <c:v>145</c:v>
                </c:pt>
                <c:pt idx="20">
                  <c:v>145</c:v>
                </c:pt>
                <c:pt idx="21">
                  <c:v>145</c:v>
                </c:pt>
                <c:pt idx="22">
                  <c:v>146</c:v>
                </c:pt>
                <c:pt idx="23">
                  <c:v>181</c:v>
                </c:pt>
                <c:pt idx="24">
                  <c:v>216</c:v>
                </c:pt>
                <c:pt idx="25">
                  <c:v>232</c:v>
                </c:pt>
                <c:pt idx="26">
                  <c:v>231</c:v>
                </c:pt>
                <c:pt idx="27">
                  <c:v>222</c:v>
                </c:pt>
                <c:pt idx="28">
                  <c:v>208</c:v>
                </c:pt>
                <c:pt idx="29">
                  <c:v>194</c:v>
                </c:pt>
                <c:pt idx="30">
                  <c:v>182</c:v>
                </c:pt>
                <c:pt idx="31">
                  <c:v>172</c:v>
                </c:pt>
                <c:pt idx="32">
                  <c:v>164</c:v>
                </c:pt>
                <c:pt idx="33">
                  <c:v>158</c:v>
                </c:pt>
                <c:pt idx="34">
                  <c:v>154</c:v>
                </c:pt>
                <c:pt idx="35">
                  <c:v>151</c:v>
                </c:pt>
                <c:pt idx="36">
                  <c:v>148</c:v>
                </c:pt>
                <c:pt idx="37">
                  <c:v>147</c:v>
                </c:pt>
                <c:pt idx="38">
                  <c:v>146</c:v>
                </c:pt>
                <c:pt idx="39">
                  <c:v>145</c:v>
                </c:pt>
                <c:pt idx="40">
                  <c:v>154</c:v>
                </c:pt>
                <c:pt idx="41">
                  <c:v>165</c:v>
                </c:pt>
                <c:pt idx="42">
                  <c:v>171</c:v>
                </c:pt>
                <c:pt idx="43">
                  <c:v>171</c:v>
                </c:pt>
                <c:pt idx="44">
                  <c:v>169</c:v>
                </c:pt>
                <c:pt idx="45">
                  <c:v>165</c:v>
                </c:pt>
                <c:pt idx="46">
                  <c:v>160</c:v>
                </c:pt>
                <c:pt idx="47">
                  <c:v>156</c:v>
                </c:pt>
                <c:pt idx="48">
                  <c:v>153</c:v>
                </c:pt>
                <c:pt idx="49">
                  <c:v>151</c:v>
                </c:pt>
                <c:pt idx="50">
                  <c:v>149</c:v>
                </c:pt>
                <c:pt idx="51">
                  <c:v>147</c:v>
                </c:pt>
                <c:pt idx="52">
                  <c:v>146</c:v>
                </c:pt>
                <c:pt idx="53">
                  <c:v>150</c:v>
                </c:pt>
                <c:pt idx="54">
                  <c:v>179</c:v>
                </c:pt>
                <c:pt idx="55">
                  <c:v>203</c:v>
                </c:pt>
                <c:pt idx="56">
                  <c:v>212</c:v>
                </c:pt>
                <c:pt idx="57">
                  <c:v>210</c:v>
                </c:pt>
                <c:pt idx="58">
                  <c:v>202</c:v>
                </c:pt>
                <c:pt idx="59">
                  <c:v>191</c:v>
                </c:pt>
                <c:pt idx="60">
                  <c:v>180</c:v>
                </c:pt>
                <c:pt idx="61">
                  <c:v>171</c:v>
                </c:pt>
                <c:pt idx="62">
                  <c:v>164</c:v>
                </c:pt>
                <c:pt idx="63">
                  <c:v>158</c:v>
                </c:pt>
                <c:pt idx="64">
                  <c:v>154</c:v>
                </c:pt>
                <c:pt idx="65">
                  <c:v>151</c:v>
                </c:pt>
                <c:pt idx="66">
                  <c:v>149</c:v>
                </c:pt>
                <c:pt idx="67">
                  <c:v>147</c:v>
                </c:pt>
                <c:pt idx="68">
                  <c:v>146</c:v>
                </c:pt>
                <c:pt idx="69">
                  <c:v>145</c:v>
                </c:pt>
                <c:pt idx="70">
                  <c:v>145</c:v>
                </c:pt>
                <c:pt idx="71">
                  <c:v>145</c:v>
                </c:pt>
                <c:pt idx="72">
                  <c:v>145</c:v>
                </c:pt>
                <c:pt idx="73">
                  <c:v>144</c:v>
                </c:pt>
                <c:pt idx="74">
                  <c:v>144</c:v>
                </c:pt>
                <c:pt idx="75">
                  <c:v>144</c:v>
                </c:pt>
                <c:pt idx="76">
                  <c:v>145</c:v>
                </c:pt>
                <c:pt idx="77">
                  <c:v>145</c:v>
                </c:pt>
                <c:pt idx="78">
                  <c:v>145</c:v>
                </c:pt>
                <c:pt idx="79">
                  <c:v>145</c:v>
                </c:pt>
                <c:pt idx="80">
                  <c:v>146</c:v>
                </c:pt>
                <c:pt idx="81">
                  <c:v>146</c:v>
                </c:pt>
                <c:pt idx="82">
                  <c:v>147</c:v>
                </c:pt>
                <c:pt idx="83">
                  <c:v>147</c:v>
                </c:pt>
                <c:pt idx="84">
                  <c:v>148</c:v>
                </c:pt>
                <c:pt idx="85">
                  <c:v>149</c:v>
                </c:pt>
                <c:pt idx="86">
                  <c:v>150</c:v>
                </c:pt>
                <c:pt idx="87">
                  <c:v>151</c:v>
                </c:pt>
                <c:pt idx="88">
                  <c:v>152</c:v>
                </c:pt>
                <c:pt idx="89">
                  <c:v>153</c:v>
                </c:pt>
                <c:pt idx="90">
                  <c:v>154</c:v>
                </c:pt>
                <c:pt idx="91">
                  <c:v>154</c:v>
                </c:pt>
                <c:pt idx="92">
                  <c:v>154</c:v>
                </c:pt>
                <c:pt idx="93">
                  <c:v>154</c:v>
                </c:pt>
                <c:pt idx="94">
                  <c:v>154</c:v>
                </c:pt>
                <c:pt idx="95">
                  <c:v>153</c:v>
                </c:pt>
                <c:pt idx="96">
                  <c:v>152</c:v>
                </c:pt>
              </c:numCache>
            </c:numRef>
          </c:val>
          <c:smooth val="0"/>
        </c:ser>
        <c:ser>
          <c:idx val="1"/>
          <c:order val="1"/>
          <c:tx>
            <c:strRef>
              <c:f>Sheet1!$C$1</c:f>
              <c:strCache>
                <c:ptCount val="1"/>
                <c:pt idx="0">
                  <c:v>Scenario</c:v>
                </c:pt>
              </c:strCache>
            </c:strRef>
          </c:tx>
          <c:spPr>
            <a:solidFill>
              <a:srgbClr val="2E9E6B"/>
            </a:solidFill>
            <a:ln w="38100" cap="flat">
              <a:solidFill>
                <a:srgbClr val="2E9E6B"/>
              </a:solidFill>
              <a:prstDash val="dash,solid,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E9E6B"/>
              </a:solidFill>
              <a:ln w="9525" cap="flat">
                <a:solidFill>
                  <a:srgbClr val="2E9E6B"/>
                </a:solidFill>
                <a:prstDash val="solid"/>
                <a:round/>
              </a:ln>
              <a:effectLst/>
            </c:spPr>
          </c:marker>
          <c:cat>
            <c:multiLvlStrRef>
              <c:f>Sheet1!$A$2:$A$98</c:f>
              <c:multiLvlStrCache>
                <c:ptCount val="97"/>
                <c:lvl>
                  <c:pt idx="0">
                    <c:v>07:30</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11:30</c:v>
                  </c:pt>
                  <c:pt idx="17">
                    <c:v> </c:v>
                  </c:pt>
                  <c:pt idx="18">
                    <c:v> </c:v>
                  </c:pt>
                  <c:pt idx="19">
                    <c:v> </c:v>
                  </c:pt>
                  <c:pt idx="20">
                    <c:v> </c:v>
                  </c:pt>
                  <c:pt idx="21">
                    <c:v> </c:v>
                  </c:pt>
                  <c:pt idx="22">
                    <c:v> </c:v>
                  </c:pt>
                  <c:pt idx="23">
                    <c:v> </c:v>
                  </c:pt>
                  <c:pt idx="24">
                    <c:v> </c:v>
                  </c:pt>
                  <c:pt idx="25">
                    <c:v> </c:v>
                  </c:pt>
                  <c:pt idx="26">
                    <c:v> </c:v>
                  </c:pt>
                  <c:pt idx="27">
                    <c:v> </c:v>
                  </c:pt>
                  <c:pt idx="28">
                    <c:v> </c:v>
                  </c:pt>
                  <c:pt idx="29">
                    <c:v> </c:v>
                  </c:pt>
                  <c:pt idx="30">
                    <c:v> </c:v>
                  </c:pt>
                  <c:pt idx="31">
                    <c:v> </c:v>
                  </c:pt>
                  <c:pt idx="32">
                    <c:v>15:30</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19:30</c:v>
                  </c:pt>
                  <c:pt idx="49">
                    <c:v> </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23:30</c:v>
                  </c:pt>
                  <c:pt idx="65">
                    <c:v> </c:v>
                  </c:pt>
                  <c:pt idx="66">
                    <c:v> </c:v>
                  </c:pt>
                  <c:pt idx="67">
                    <c:v> </c:v>
                  </c:pt>
                  <c:pt idx="68">
                    <c:v> </c:v>
                  </c:pt>
                  <c:pt idx="69">
                    <c:v> </c:v>
                  </c:pt>
                  <c:pt idx="70">
                    <c:v> </c:v>
                  </c:pt>
                  <c:pt idx="71">
                    <c:v> </c:v>
                  </c:pt>
                  <c:pt idx="72">
                    <c:v> </c:v>
                  </c:pt>
                  <c:pt idx="73">
                    <c:v> </c:v>
                  </c:pt>
                  <c:pt idx="74">
                    <c:v> </c:v>
                  </c:pt>
                  <c:pt idx="75">
                    <c:v> </c:v>
                  </c:pt>
                  <c:pt idx="76">
                    <c:v> </c:v>
                  </c:pt>
                  <c:pt idx="77">
                    <c:v> </c:v>
                  </c:pt>
                  <c:pt idx="78">
                    <c:v> </c:v>
                  </c:pt>
                  <c:pt idx="79">
                    <c:v> </c:v>
                  </c:pt>
                  <c:pt idx="80">
                    <c:v>03:30</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07:30</c:v>
                  </c:pt>
                </c:lvl>
              </c:multiLvlStrCache>
            </c:multiLvlStrRef>
          </c:cat>
          <c:val>
            <c:numRef>
              <c:f>Sheet1!$C$2:$C$98</c:f>
              <c:numCache>
                <c:formatCode>General</c:formatCode>
                <c:ptCount val="97"/>
                <c:pt idx="0">
                  <c:v>152</c:v>
                </c:pt>
                <c:pt idx="1">
                  <c:v>151</c:v>
                </c:pt>
                <c:pt idx="2">
                  <c:v>150</c:v>
                </c:pt>
                <c:pt idx="3">
                  <c:v>159</c:v>
                </c:pt>
                <c:pt idx="4">
                  <c:v>171</c:v>
                </c:pt>
                <c:pt idx="5">
                  <c:v>177</c:v>
                </c:pt>
                <c:pt idx="6">
                  <c:v>177</c:v>
                </c:pt>
                <c:pt idx="7">
                  <c:v>173</c:v>
                </c:pt>
                <c:pt idx="8">
                  <c:v>168</c:v>
                </c:pt>
                <c:pt idx="9">
                  <c:v>163</c:v>
                </c:pt>
                <c:pt idx="10">
                  <c:v>158</c:v>
                </c:pt>
                <c:pt idx="11">
                  <c:v>155</c:v>
                </c:pt>
                <c:pt idx="12">
                  <c:v>152</c:v>
                </c:pt>
                <c:pt idx="13">
                  <c:v>149</c:v>
                </c:pt>
                <c:pt idx="14">
                  <c:v>148</c:v>
                </c:pt>
                <c:pt idx="15">
                  <c:v>147</c:v>
                </c:pt>
                <c:pt idx="16">
                  <c:v>146</c:v>
                </c:pt>
                <c:pt idx="17">
                  <c:v>145</c:v>
                </c:pt>
                <c:pt idx="18">
                  <c:v>145</c:v>
                </c:pt>
                <c:pt idx="19">
                  <c:v>145</c:v>
                </c:pt>
                <c:pt idx="20">
                  <c:v>144</c:v>
                </c:pt>
                <c:pt idx="21">
                  <c:v>144</c:v>
                </c:pt>
                <c:pt idx="22">
                  <c:v>145</c:v>
                </c:pt>
                <c:pt idx="23">
                  <c:v>163</c:v>
                </c:pt>
                <c:pt idx="24">
                  <c:v>181</c:v>
                </c:pt>
                <c:pt idx="25">
                  <c:v>189</c:v>
                </c:pt>
                <c:pt idx="26">
                  <c:v>189</c:v>
                </c:pt>
                <c:pt idx="27">
                  <c:v>184</c:v>
                </c:pt>
                <c:pt idx="28">
                  <c:v>177</c:v>
                </c:pt>
                <c:pt idx="29">
                  <c:v>170</c:v>
                </c:pt>
                <c:pt idx="30">
                  <c:v>164</c:v>
                </c:pt>
                <c:pt idx="31">
                  <c:v>158</c:v>
                </c:pt>
                <c:pt idx="32">
                  <c:v>154</c:v>
                </c:pt>
                <c:pt idx="33">
                  <c:v>151</c:v>
                </c:pt>
                <c:pt idx="34">
                  <c:v>149</c:v>
                </c:pt>
                <c:pt idx="35">
                  <c:v>147</c:v>
                </c:pt>
                <c:pt idx="36">
                  <c:v>146</c:v>
                </c:pt>
                <c:pt idx="37">
                  <c:v>146</c:v>
                </c:pt>
                <c:pt idx="38">
                  <c:v>145</c:v>
                </c:pt>
                <c:pt idx="39">
                  <c:v>145</c:v>
                </c:pt>
                <c:pt idx="40">
                  <c:v>149</c:v>
                </c:pt>
                <c:pt idx="41">
                  <c:v>155</c:v>
                </c:pt>
                <c:pt idx="42">
                  <c:v>158</c:v>
                </c:pt>
                <c:pt idx="43">
                  <c:v>158</c:v>
                </c:pt>
                <c:pt idx="44">
                  <c:v>157</c:v>
                </c:pt>
                <c:pt idx="45">
                  <c:v>155</c:v>
                </c:pt>
                <c:pt idx="46">
                  <c:v>152</c:v>
                </c:pt>
                <c:pt idx="47">
                  <c:v>150</c:v>
                </c:pt>
                <c:pt idx="48">
                  <c:v>149</c:v>
                </c:pt>
                <c:pt idx="49">
                  <c:v>147</c:v>
                </c:pt>
                <c:pt idx="50">
                  <c:v>146</c:v>
                </c:pt>
                <c:pt idx="51">
                  <c:v>146</c:v>
                </c:pt>
                <c:pt idx="52">
                  <c:v>145</c:v>
                </c:pt>
                <c:pt idx="53">
                  <c:v>147</c:v>
                </c:pt>
                <c:pt idx="54">
                  <c:v>162</c:v>
                </c:pt>
                <c:pt idx="55">
                  <c:v>175</c:v>
                </c:pt>
                <c:pt idx="56">
                  <c:v>180</c:v>
                </c:pt>
                <c:pt idx="57">
                  <c:v>178</c:v>
                </c:pt>
                <c:pt idx="58">
                  <c:v>174</c:v>
                </c:pt>
                <c:pt idx="59">
                  <c:v>168</c:v>
                </c:pt>
                <c:pt idx="60">
                  <c:v>163</c:v>
                </c:pt>
                <c:pt idx="61">
                  <c:v>158</c:v>
                </c:pt>
                <c:pt idx="62">
                  <c:v>154</c:v>
                </c:pt>
                <c:pt idx="63">
                  <c:v>151</c:v>
                </c:pt>
                <c:pt idx="64">
                  <c:v>149</c:v>
                </c:pt>
                <c:pt idx="65">
                  <c:v>148</c:v>
                </c:pt>
                <c:pt idx="66">
                  <c:v>146</c:v>
                </c:pt>
                <c:pt idx="67">
                  <c:v>146</c:v>
                </c:pt>
                <c:pt idx="68">
                  <c:v>145</c:v>
                </c:pt>
                <c:pt idx="69">
                  <c:v>145</c:v>
                </c:pt>
                <c:pt idx="70">
                  <c:v>145</c:v>
                </c:pt>
                <c:pt idx="71">
                  <c:v>144</c:v>
                </c:pt>
                <c:pt idx="72">
                  <c:v>144</c:v>
                </c:pt>
                <c:pt idx="73">
                  <c:v>144</c:v>
                </c:pt>
                <c:pt idx="74">
                  <c:v>144</c:v>
                </c:pt>
                <c:pt idx="75">
                  <c:v>144</c:v>
                </c:pt>
                <c:pt idx="76">
                  <c:v>144</c:v>
                </c:pt>
                <c:pt idx="77">
                  <c:v>145</c:v>
                </c:pt>
                <c:pt idx="78">
                  <c:v>145</c:v>
                </c:pt>
                <c:pt idx="79">
                  <c:v>145</c:v>
                </c:pt>
                <c:pt idx="80">
                  <c:v>146</c:v>
                </c:pt>
                <c:pt idx="81">
                  <c:v>146</c:v>
                </c:pt>
                <c:pt idx="82">
                  <c:v>147</c:v>
                </c:pt>
                <c:pt idx="83">
                  <c:v>147</c:v>
                </c:pt>
                <c:pt idx="84">
                  <c:v>148</c:v>
                </c:pt>
                <c:pt idx="85">
                  <c:v>149</c:v>
                </c:pt>
                <c:pt idx="86">
                  <c:v>150</c:v>
                </c:pt>
                <c:pt idx="87">
                  <c:v>151</c:v>
                </c:pt>
                <c:pt idx="88">
                  <c:v>152</c:v>
                </c:pt>
                <c:pt idx="89">
                  <c:v>153</c:v>
                </c:pt>
                <c:pt idx="90">
                  <c:v>154</c:v>
                </c:pt>
                <c:pt idx="91">
                  <c:v>154</c:v>
                </c:pt>
                <c:pt idx="92">
                  <c:v>154</c:v>
                </c:pt>
                <c:pt idx="93">
                  <c:v>154</c:v>
                </c:pt>
                <c:pt idx="94">
                  <c:v>154</c:v>
                </c:pt>
                <c:pt idx="95">
                  <c:v>153</c:v>
                </c:pt>
                <c:pt idx="96">
                  <c:v>152</c:v>
                </c:pt>
              </c:numCache>
            </c:numRef>
          </c:val>
          <c:smooth val="0"/>
        </c:ser>
        <c:ser>
          <c:idx val="2"/>
          <c:order val="2"/>
          <c:tx>
            <c:strRef>
              <c:f>Sheet1!$D$1</c:f>
              <c:strCache>
                <c:ptCount val="1"/>
                <c:pt idx="0">
                  <c:v>180 mg/dL threshold</c:v>
                </c:pt>
              </c:strCache>
            </c:strRef>
          </c:tx>
          <c:spPr>
            <a:solidFill>
              <a:srgbClr val="E4572E"/>
            </a:solidFill>
            <a:ln w="38100" cap="flat">
              <a:solidFill>
                <a:srgbClr val="E4572E"/>
              </a:solidFill>
              <a:prstDash val="dash,solid,sys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Sheet1!$A$2:$A$98</c:f>
              <c:multiLvlStrCache>
                <c:ptCount val="97"/>
                <c:lvl>
                  <c:pt idx="0">
                    <c:v>07:30</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11:30</c:v>
                  </c:pt>
                  <c:pt idx="17">
                    <c:v> </c:v>
                  </c:pt>
                  <c:pt idx="18">
                    <c:v> </c:v>
                  </c:pt>
                  <c:pt idx="19">
                    <c:v> </c:v>
                  </c:pt>
                  <c:pt idx="20">
                    <c:v> </c:v>
                  </c:pt>
                  <c:pt idx="21">
                    <c:v> </c:v>
                  </c:pt>
                  <c:pt idx="22">
                    <c:v> </c:v>
                  </c:pt>
                  <c:pt idx="23">
                    <c:v> </c:v>
                  </c:pt>
                  <c:pt idx="24">
                    <c:v> </c:v>
                  </c:pt>
                  <c:pt idx="25">
                    <c:v> </c:v>
                  </c:pt>
                  <c:pt idx="26">
                    <c:v> </c:v>
                  </c:pt>
                  <c:pt idx="27">
                    <c:v> </c:v>
                  </c:pt>
                  <c:pt idx="28">
                    <c:v> </c:v>
                  </c:pt>
                  <c:pt idx="29">
                    <c:v> </c:v>
                  </c:pt>
                  <c:pt idx="30">
                    <c:v> </c:v>
                  </c:pt>
                  <c:pt idx="31">
                    <c:v> </c:v>
                  </c:pt>
                  <c:pt idx="32">
                    <c:v>15:30</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19:30</c:v>
                  </c:pt>
                  <c:pt idx="49">
                    <c:v> </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23:30</c:v>
                  </c:pt>
                  <c:pt idx="65">
                    <c:v> </c:v>
                  </c:pt>
                  <c:pt idx="66">
                    <c:v> </c:v>
                  </c:pt>
                  <c:pt idx="67">
                    <c:v> </c:v>
                  </c:pt>
                  <c:pt idx="68">
                    <c:v> </c:v>
                  </c:pt>
                  <c:pt idx="69">
                    <c:v> </c:v>
                  </c:pt>
                  <c:pt idx="70">
                    <c:v> </c:v>
                  </c:pt>
                  <c:pt idx="71">
                    <c:v> </c:v>
                  </c:pt>
                  <c:pt idx="72">
                    <c:v> </c:v>
                  </c:pt>
                  <c:pt idx="73">
                    <c:v> </c:v>
                  </c:pt>
                  <c:pt idx="74">
                    <c:v> </c:v>
                  </c:pt>
                  <c:pt idx="75">
                    <c:v> </c:v>
                  </c:pt>
                  <c:pt idx="76">
                    <c:v> </c:v>
                  </c:pt>
                  <c:pt idx="77">
                    <c:v> </c:v>
                  </c:pt>
                  <c:pt idx="78">
                    <c:v> </c:v>
                  </c:pt>
                  <c:pt idx="79">
                    <c:v> </c:v>
                  </c:pt>
                  <c:pt idx="80">
                    <c:v>03:30</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07:30</c:v>
                  </c:pt>
                </c:lvl>
              </c:multiLvlStrCache>
            </c:multiLvlStrRef>
          </c:cat>
          <c:val>
            <c:numRef>
              <c:f>Sheet1!$D$2:$D$98</c:f>
              <c:numCache>
                <c:formatCode>General</c:formatCode>
                <c:ptCount val="97"/>
                <c:pt idx="0">
                  <c:v>180</c:v>
                </c:pt>
                <c:pt idx="1">
                  <c:v>180</c:v>
                </c:pt>
                <c:pt idx="2">
                  <c:v>180</c:v>
                </c:pt>
                <c:pt idx="3">
                  <c:v>180</c:v>
                </c:pt>
                <c:pt idx="4">
                  <c:v>180</c:v>
                </c:pt>
                <c:pt idx="5">
                  <c:v>180</c:v>
                </c:pt>
                <c:pt idx="6">
                  <c:v>180</c:v>
                </c:pt>
                <c:pt idx="7">
                  <c:v>180</c:v>
                </c:pt>
                <c:pt idx="8">
                  <c:v>180</c:v>
                </c:pt>
                <c:pt idx="9">
                  <c:v>180</c:v>
                </c:pt>
                <c:pt idx="10">
                  <c:v>180</c:v>
                </c:pt>
                <c:pt idx="11">
                  <c:v>180</c:v>
                </c:pt>
                <c:pt idx="12">
                  <c:v>180</c:v>
                </c:pt>
                <c:pt idx="13">
                  <c:v>180</c:v>
                </c:pt>
                <c:pt idx="14">
                  <c:v>180</c:v>
                </c:pt>
                <c:pt idx="15">
                  <c:v>180</c:v>
                </c:pt>
                <c:pt idx="16">
                  <c:v>180</c:v>
                </c:pt>
                <c:pt idx="17">
                  <c:v>180</c:v>
                </c:pt>
                <c:pt idx="18">
                  <c:v>180</c:v>
                </c:pt>
                <c:pt idx="19">
                  <c:v>180</c:v>
                </c:pt>
                <c:pt idx="20">
                  <c:v>180</c:v>
                </c:pt>
                <c:pt idx="21">
                  <c:v>180</c:v>
                </c:pt>
                <c:pt idx="22">
                  <c:v>180</c:v>
                </c:pt>
                <c:pt idx="23">
                  <c:v>180</c:v>
                </c:pt>
                <c:pt idx="24">
                  <c:v>180</c:v>
                </c:pt>
                <c:pt idx="25">
                  <c:v>180</c:v>
                </c:pt>
                <c:pt idx="26">
                  <c:v>180</c:v>
                </c:pt>
                <c:pt idx="27">
                  <c:v>180</c:v>
                </c:pt>
                <c:pt idx="28">
                  <c:v>180</c:v>
                </c:pt>
                <c:pt idx="29">
                  <c:v>180</c:v>
                </c:pt>
                <c:pt idx="30">
                  <c:v>180</c:v>
                </c:pt>
                <c:pt idx="31">
                  <c:v>180</c:v>
                </c:pt>
                <c:pt idx="32">
                  <c:v>180</c:v>
                </c:pt>
                <c:pt idx="33">
                  <c:v>180</c:v>
                </c:pt>
                <c:pt idx="34">
                  <c:v>180</c:v>
                </c:pt>
                <c:pt idx="35">
                  <c:v>180</c:v>
                </c:pt>
                <c:pt idx="36">
                  <c:v>180</c:v>
                </c:pt>
                <c:pt idx="37">
                  <c:v>180</c:v>
                </c:pt>
                <c:pt idx="38">
                  <c:v>180</c:v>
                </c:pt>
                <c:pt idx="39">
                  <c:v>180</c:v>
                </c:pt>
                <c:pt idx="40">
                  <c:v>180</c:v>
                </c:pt>
                <c:pt idx="41">
                  <c:v>180</c:v>
                </c:pt>
                <c:pt idx="42">
                  <c:v>180</c:v>
                </c:pt>
                <c:pt idx="43">
                  <c:v>180</c:v>
                </c:pt>
                <c:pt idx="44">
                  <c:v>180</c:v>
                </c:pt>
                <c:pt idx="45">
                  <c:v>180</c:v>
                </c:pt>
                <c:pt idx="46">
                  <c:v>180</c:v>
                </c:pt>
                <c:pt idx="47">
                  <c:v>180</c:v>
                </c:pt>
                <c:pt idx="48">
                  <c:v>180</c:v>
                </c:pt>
                <c:pt idx="49">
                  <c:v>180</c:v>
                </c:pt>
                <c:pt idx="50">
                  <c:v>180</c:v>
                </c:pt>
                <c:pt idx="51">
                  <c:v>180</c:v>
                </c:pt>
                <c:pt idx="52">
                  <c:v>180</c:v>
                </c:pt>
                <c:pt idx="53">
                  <c:v>180</c:v>
                </c:pt>
                <c:pt idx="54">
                  <c:v>180</c:v>
                </c:pt>
                <c:pt idx="55">
                  <c:v>180</c:v>
                </c:pt>
                <c:pt idx="56">
                  <c:v>180</c:v>
                </c:pt>
                <c:pt idx="57">
                  <c:v>180</c:v>
                </c:pt>
                <c:pt idx="58">
                  <c:v>180</c:v>
                </c:pt>
                <c:pt idx="59">
                  <c:v>180</c:v>
                </c:pt>
                <c:pt idx="60">
                  <c:v>180</c:v>
                </c:pt>
                <c:pt idx="61">
                  <c:v>180</c:v>
                </c:pt>
                <c:pt idx="62">
                  <c:v>180</c:v>
                </c:pt>
                <c:pt idx="63">
                  <c:v>180</c:v>
                </c:pt>
                <c:pt idx="64">
                  <c:v>180</c:v>
                </c:pt>
                <c:pt idx="65">
                  <c:v>180</c:v>
                </c:pt>
                <c:pt idx="66">
                  <c:v>180</c:v>
                </c:pt>
                <c:pt idx="67">
                  <c:v>180</c:v>
                </c:pt>
                <c:pt idx="68">
                  <c:v>180</c:v>
                </c:pt>
                <c:pt idx="69">
                  <c:v>180</c:v>
                </c:pt>
                <c:pt idx="70">
                  <c:v>180</c:v>
                </c:pt>
                <c:pt idx="71">
                  <c:v>180</c:v>
                </c:pt>
                <c:pt idx="72">
                  <c:v>180</c:v>
                </c:pt>
                <c:pt idx="73">
                  <c:v>180</c:v>
                </c:pt>
                <c:pt idx="74">
                  <c:v>180</c:v>
                </c:pt>
                <c:pt idx="75">
                  <c:v>180</c:v>
                </c:pt>
                <c:pt idx="76">
                  <c:v>180</c:v>
                </c:pt>
                <c:pt idx="77">
                  <c:v>180</c:v>
                </c:pt>
                <c:pt idx="78">
                  <c:v>180</c:v>
                </c:pt>
                <c:pt idx="79">
                  <c:v>180</c:v>
                </c:pt>
                <c:pt idx="80">
                  <c:v>180</c:v>
                </c:pt>
                <c:pt idx="81">
                  <c:v>180</c:v>
                </c:pt>
                <c:pt idx="82">
                  <c:v>180</c:v>
                </c:pt>
                <c:pt idx="83">
                  <c:v>180</c:v>
                </c:pt>
                <c:pt idx="84">
                  <c:v>180</c:v>
                </c:pt>
                <c:pt idx="85">
                  <c:v>180</c:v>
                </c:pt>
                <c:pt idx="86">
                  <c:v>180</c:v>
                </c:pt>
                <c:pt idx="87">
                  <c:v>180</c:v>
                </c:pt>
                <c:pt idx="88">
                  <c:v>180</c:v>
                </c:pt>
                <c:pt idx="89">
                  <c:v>180</c:v>
                </c:pt>
                <c:pt idx="90">
                  <c:v>180</c:v>
                </c:pt>
                <c:pt idx="91">
                  <c:v>180</c:v>
                </c:pt>
                <c:pt idx="92">
                  <c:v>180</c:v>
                </c:pt>
                <c:pt idx="93">
                  <c:v>180</c:v>
                </c:pt>
                <c:pt idx="94">
                  <c:v>180</c:v>
                </c:pt>
                <c:pt idx="95">
                  <c:v>180</c:v>
                </c:pt>
                <c:pt idx="96">
                  <c:v>180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C8D"/>
                </a:solidFill>
                <a:latin typeface="+mn-lt"/>
              </a:defRPr>
            </a:pPr>
            <a:endParaRPr lang="en-US"/>
          </a:p>
        </c:txPr>
        <c:crossAx val="2094734552"/>
        <c:crosses val="autoZero"/>
        <c:auto val="1"/>
        <c:lblAlgn val="ctr"/>
        <c:noMultiLvlLbl val="1"/>
        <c:tickLblSkip val="16"/>
      </c:catAx>
      <c:valAx>
        <c:axId val="2094734552"/>
        <c:scaling>
          <c:orientation val="minMax"/>
          <c:max val="240"/>
          <c:min val="100"/>
        </c:scaling>
        <c:delete val="0"/>
        <c:axPos val="l"/>
        <c:majorGridlines>
          <c:spPr>
            <a:ln w="9525" cap="flat">
              <a:solidFill>
                <a:srgbClr val="D5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8D"/>
                </a:solidFill>
                <a:latin typeface="+mn-lt"/>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10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GlucoTwin: a digital twin that predicts glucose spikes two hours ahead and lets doctors test treatment changes virtually. The curve on the right is real output from our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people with diabetes (ICMR-INDIAB 2023). Follow-ups are typically every one to three months and rely on HbA1c, so spikes between visits are invisible. Doctors cannot safely test a diet or dose change before prescribing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GlucoTwin does three jobs. It fuses static and dynamic data, predicts a spike two hours ahead with reasons, and simulates what-if treatment changes on the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 on a condition with a huge burden in India. The adverse event is a hyperglycaemic spike above 180 mg/dL. Two hours is long enough for a walk, a lighter meal, a timely dose or a teleconsult.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is Synthea-inspired with a custom time-series engine. Meal responses, dawn phenomenon, sleep effects and sensor noise make the CGM traces realistic. Patients get random IDs and no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Two engines sit side by side: XGBoost for accurate short-term risk alerts and a mechanistic twin for what-if scenarios. Together they form a hybrid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predicts the probability that glucose exceeds 180 mg/dL in two hours. The regressor predicts the glucose value. We split by patient so the test set contains people the model has never seen, and tune the alert threshold on validation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 held-out patients the model halves the glucose error compared with assuming no change, and detects spikes with an F1 of 0.82. These results are on synthetic data, so they show the pipeline works rather than clinical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output from the app. At 07:30 the twin sees stable overnight glucose but predicts a rise above 180 by 09:30 given the usual breakfast. The doctor sees the alert, the patient profile and the top drivers. The replay clock lets us stream data in 15-minute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mechanistic twin is calibrated to the patient's last three days of glucose. The doctor changes carbohydrate intake, medication, dose or post-meal walking and sees the next 24 hours instantly. Here, 70 percent carbs plus a 20-minute walk after meals cuts time above 180 from about 4.8 hours to 1 hour. Medication effect sizes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earlier action and scalable follow-up. Safety: synthetic data only, decision support rather than decision making, and explainable alerts. Roadmap: real wearable data, FHIR and ABDM integration, clinical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point to the GitHub repository and the unlisted YouTube demo,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GlucoTwin  |  Digital Twin Challenge 2026</a:t>
            </a:r>
            <a:endParaRPr lang="en-US" sz="1000" dirty="0"/>
          </a:p>
        </p:txBody>
      </p:sp>
      <p:sp>
        <p:nvSpPr>
          <p:cNvPr id="3" name="Text 1"/>
          <p:cNvSpPr/>
          <p:nvPr>
            <p:ph idx="101"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1"/>
          <p:cNvSpPr/>
          <p:nvPr>
            <p:ph idx="102" type="body" hasCustomPrompt="1"/>
          </p:nvPr>
        </p:nvSpPr>
        <p:spPr>
          <a:xfrm>
            <a:off x="548640" y="1097280"/>
            <a:ext cx="11091672" cy="4572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429000"/>
            <a:ext cx="5852160" cy="914400"/>
          </a:xfrm>
          <a:prstGeom prst="rect">
            <a:avLst/>
          </a:prstGeom>
          <a:noFill/>
          <a:ln/>
        </p:spPr>
        <p:txBody>
          <a:bodyPr wrap="square" rtlCol="0"/>
          <a:lstStyle>
            <a:lvl1pPr indent="0" marL="0">
              <a:buNone/>
              <a:defRPr lang="en-US" sz="2400" dirty="0">
                <a:solidFill>
                  <a:srgbClr val="8FD3D9"/>
                </a:solidFill>
              </a:defRPr>
            </a:lvl1pPr>
          </a:lstStyle>
          <a:p>
            <a:pP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lIns="0" tIns="0" rIns="0" bIns="0" rtlCol="0" anchor="b"/>
          <a:lstStyle/>
          <a:p>
            <a:pPr algn="l" indent="0" marL="0">
              <a:buNone/>
            </a:pPr>
            <a:r>
              <a:rPr lang="en-US" sz="6000" b="1" dirty="0">
                <a:solidFill>
                  <a:schemeClr val="bg1"/>
                </a:solidFill>
              </a:rPr>
              <a:t>GlucoTwin</a:t>
            </a:r>
            <a:endParaRPr lang="en-US" sz="6000" dirty="0"/>
          </a:p>
        </p:txBody>
      </p:sp>
      <p:sp>
        <p:nvSpPr>
          <p:cNvPr id="3" name="Text 0"/>
          <p:cNvSpPr/>
          <p:nvPr>
            <p:ph idx="101" type="body" hasCustomPrompt="1"/>
          </p:nvPr>
        </p:nvSpPr>
        <p:spPr>
          <a:xfrm>
            <a:off x="731520" y="3429000"/>
            <a:ext cx="5852160" cy="914400"/>
          </a:xfrm>
          <a:prstGeom prst="rect">
            <a:avLst/>
          </a:prstGeom>
          <a:noFill/>
          <a:ln/>
        </p:spPr>
        <p:txBody>
          <a:bodyPr wrap="square" lIns="0" tIns="0" rIns="0" bIns="0" rtlCol="0" anchor="t"/>
          <a:lstStyle/>
          <a:p>
            <a:pPr indent="0" marL="0">
              <a:buNone/>
            </a:pPr>
            <a:r>
              <a:rPr lang="en-US" sz="2400" dirty="0">
                <a:solidFill>
                  <a:srgbClr val="8FD3D9"/>
                </a:solidFill>
              </a:rPr>
              <a:t>A Digital Twin for Type 2 Diabetes management</a:t>
            </a:r>
            <a:endParaRPr lang="en-US" sz="2400" dirty="0"/>
          </a:p>
        </p:txBody>
      </p:sp>
      <p:sp>
        <p:nvSpPr>
          <p:cNvPr id="4" name="Text 2"/>
          <p:cNvSpPr txBox="1"/>
          <p:nvPr/>
        </p:nvSpPr>
        <p:spPr>
          <a:xfrm>
            <a:off x="731520" y="4663440"/>
            <a:ext cx="5852160" cy="365760"/>
          </a:xfrm>
          <a:prstGeom prst="rect">
            <a:avLst/>
          </a:prstGeom>
          <a:noFill/>
          <a:ln/>
        </p:spPr>
        <p:txBody>
          <a:bodyPr wrap="square" lIns="0" tIns="0" rIns="0" bIns="0" rtlCol="0" anchor="t"/>
          <a:lstStyle/>
          <a:p>
            <a:pPr indent="0" marL="0">
              <a:buNone/>
            </a:pPr>
            <a:r>
              <a:rPr lang="en-US" sz="1800" b="1" dirty="0">
                <a:solidFill>
                  <a:schemeClr val="bg1"/>
                </a:solidFill>
              </a:rPr>
              <a:t>Happiest Health Digital Twin Challenge 2026</a:t>
            </a:r>
            <a:endParaRPr lang="en-US" sz="1800" dirty="0"/>
          </a:p>
        </p:txBody>
      </p:sp>
      <p:sp>
        <p:nvSpPr>
          <p:cNvPr id="5" name="Text 3"/>
          <p:cNvSpPr txBox="1"/>
          <p:nvPr/>
        </p:nvSpPr>
        <p:spPr>
          <a:xfrm>
            <a:off x="731520" y="5074920"/>
            <a:ext cx="6035040" cy="365760"/>
          </a:xfrm>
          <a:prstGeom prst="rect">
            <a:avLst/>
          </a:prstGeom>
          <a:noFill/>
          <a:ln/>
        </p:spPr>
        <p:txBody>
          <a:bodyPr wrap="square" lIns="0" tIns="0" rIns="0" bIns="0" rtlCol="0" anchor="t"/>
          <a:lstStyle/>
          <a:p>
            <a:pPr indent="0" marL="0">
              <a:buNone/>
            </a:pPr>
            <a:r>
              <a:rPr lang="en-US" sz="1800" b="1" dirty="0">
                <a:solidFill>
                  <a:srgbClr val="8FD3D9"/>
                </a:solidFill>
              </a:rPr>
              <a:t>Team CodeNCoffee</a:t>
            </a:r>
            <a:endParaRPr lang="en-US" sz="1800" dirty="0"/>
          </a:p>
        </p:txBody>
      </p:sp>
      <p:sp>
        <p:nvSpPr>
          <p:cNvPr id="6" name="Text 4"/>
          <p:cNvSpPr txBox="1"/>
          <p:nvPr/>
        </p:nvSpPr>
        <p:spPr>
          <a:xfrm>
            <a:off x="731520" y="5440680"/>
            <a:ext cx="6035040" cy="365760"/>
          </a:xfrm>
          <a:prstGeom prst="rect">
            <a:avLst/>
          </a:prstGeom>
          <a:noFill/>
          <a:ln/>
        </p:spPr>
        <p:txBody>
          <a:bodyPr wrap="square" lIns="0" tIns="0" rIns="0" bIns="0" rtlCol="0" anchor="t"/>
          <a:lstStyle/>
          <a:p>
            <a:pPr indent="0" marL="0">
              <a:buNone/>
            </a:pPr>
            <a:r>
              <a:rPr lang="en-US" sz="1500" dirty="0">
                <a:solidFill>
                  <a:srgbClr val="8FD3D9"/>
                </a:solidFill>
              </a:rPr>
              <a:t>Prasad V. Potluri Siddhartha Institute of Technology</a:t>
            </a:r>
            <a:endParaRPr lang="en-US" sz="1500" dirty="0"/>
          </a:p>
        </p:txBody>
      </p:sp>
      <p:sp>
        <p:nvSpPr>
          <p:cNvPr id="7" name="Hero panel"/>
          <p:cNvSpPr/>
          <p:nvPr/>
        </p:nvSpPr>
        <p:spPr>
          <a:xfrm>
            <a:off x="7040880" y="1371600"/>
            <a:ext cx="4572000" cy="4023360"/>
          </a:xfrm>
          <a:prstGeom prst="roundRect">
            <a:avLst>
              <a:gd name="adj" fmla="val 3409"/>
            </a:avLst>
          </a:prstGeom>
          <a:solidFill>
            <a:schemeClr val="accent1">
              <a:alpha val="30000"/>
            </a:schemeClr>
          </a:solidFill>
          <a:ln w="12700">
            <a:solidFill>
              <a:schemeClr val="accent1"/>
            </a:solidFill>
            <a:prstDash val="solid"/>
          </a:ln>
        </p:spPr>
      </p:sp>
      <p:sp>
        <p:nvSpPr>
          <p:cNvPr id="8" name="Text 6"/>
          <p:cNvSpPr txBox="1"/>
          <p:nvPr/>
        </p:nvSpPr>
        <p:spPr>
          <a:xfrm>
            <a:off x="7315200" y="1600200"/>
            <a:ext cx="4023360" cy="320040"/>
          </a:xfrm>
          <a:prstGeom prst="rect">
            <a:avLst/>
          </a:prstGeom>
          <a:noFill/>
          <a:ln/>
        </p:spPr>
        <p:txBody>
          <a:bodyPr wrap="square" lIns="0" tIns="0" rIns="0" bIns="0" rtlCol="0" anchor="t"/>
          <a:lstStyle/>
          <a:p>
            <a:pPr indent="0" marL="0">
              <a:buNone/>
            </a:pPr>
            <a:r>
              <a:rPr lang="en-US" sz="1400" b="1" dirty="0">
                <a:solidFill>
                  <a:srgbClr val="8FD3D9"/>
                </a:solidFill>
              </a:rPr>
              <a:t>Live glucose + 2-hour AI forecast</a:t>
            </a:r>
            <a:endParaRPr lang="en-US" sz="1400" dirty="0"/>
          </a:p>
        </p:txBody>
      </p:sp>
      <p:graphicFrame>
        <p:nvGraphicFramePr>
          <p:cNvPr id="9" name="Hero glucose chart" descr=""/>
          <p:cNvGraphicFramePr/>
          <p:nvPr/>
        </p:nvGraphicFramePr>
        <p:xfrm>
          <a:off x="7223760" y="2011680"/>
          <a:ext cx="4206240" cy="3108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The Problem</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Diabetes care today is a snapshot, not a movie</a:t>
            </a:r>
            <a:endParaRPr lang="en-US" sz="1800" dirty="0"/>
          </a:p>
        </p:txBody>
      </p:sp>
      <p:sp>
        <p:nvSpPr>
          <p:cNvPr id="5" name="Stat card 1"/>
          <p:cNvSpPr/>
          <p:nvPr/>
        </p:nvSpPr>
        <p:spPr>
          <a:xfrm>
            <a:off x="548640" y="1920240"/>
            <a:ext cx="3520440" cy="3017520"/>
          </a:xfrm>
          <a:prstGeom prst="roundRect">
            <a:avLst>
              <a:gd name="adj" fmla="val 3636"/>
            </a:avLst>
          </a:prstGeom>
          <a:solidFill>
            <a:schemeClr val="bg2"/>
          </a:solidFill>
          <a:ln w="12700">
            <a:solidFill>
              <a:schemeClr val="bg2"/>
            </a:solidFill>
            <a:prstDash val="solid"/>
          </a:ln>
        </p:spPr>
      </p:sp>
      <p:sp>
        <p:nvSpPr>
          <p:cNvPr id="6" name="Text 3"/>
          <p:cNvSpPr txBox="1"/>
          <p:nvPr/>
        </p:nvSpPr>
        <p:spPr>
          <a:xfrm>
            <a:off x="914400" y="2240280"/>
            <a:ext cx="283464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101 M</a:t>
            </a:r>
            <a:endParaRPr lang="en-US" sz="6000" dirty="0"/>
          </a:p>
        </p:txBody>
      </p:sp>
      <p:sp>
        <p:nvSpPr>
          <p:cNvPr id="7" name="Text 4"/>
          <p:cNvSpPr txBox="1"/>
          <p:nvPr/>
        </p:nvSpPr>
        <p:spPr>
          <a:xfrm>
            <a:off x="914400" y="3429000"/>
            <a:ext cx="2834640" cy="1280160"/>
          </a:xfrm>
          <a:prstGeom prst="rect">
            <a:avLst/>
          </a:prstGeom>
          <a:noFill/>
          <a:ln/>
        </p:spPr>
        <p:txBody>
          <a:bodyPr wrap="square" lIns="0" tIns="0" rIns="0" bIns="0" rtlCol="0" anchor="t"/>
          <a:lstStyle/>
          <a:p>
            <a:pPr indent="0" marL="0">
              <a:buNone/>
            </a:pPr>
            <a:r>
              <a:rPr lang="en-US" sz="2000" dirty="0">
                <a:solidFill>
                  <a:schemeClr val="tx1"/>
                </a:solidFill>
              </a:rPr>
              <a:t>people live with diabetes in India (ICMR-INDIAB, 2023)</a:t>
            </a:r>
            <a:endParaRPr lang="en-US" sz="2000" dirty="0"/>
          </a:p>
        </p:txBody>
      </p:sp>
      <p:sp>
        <p:nvSpPr>
          <p:cNvPr id="8" name="Stat card 2"/>
          <p:cNvSpPr/>
          <p:nvPr/>
        </p:nvSpPr>
        <p:spPr>
          <a:xfrm>
            <a:off x="4334256" y="1920240"/>
            <a:ext cx="3520440" cy="3017520"/>
          </a:xfrm>
          <a:prstGeom prst="roundRect">
            <a:avLst>
              <a:gd name="adj" fmla="val 3636"/>
            </a:avLst>
          </a:prstGeom>
          <a:solidFill>
            <a:schemeClr val="bg2"/>
          </a:solidFill>
          <a:ln w="12700">
            <a:solidFill>
              <a:schemeClr val="bg2"/>
            </a:solidFill>
            <a:prstDash val="solid"/>
          </a:ln>
        </p:spPr>
      </p:sp>
      <p:sp>
        <p:nvSpPr>
          <p:cNvPr id="9" name="Text 6"/>
          <p:cNvSpPr txBox="1"/>
          <p:nvPr/>
        </p:nvSpPr>
        <p:spPr>
          <a:xfrm>
            <a:off x="4700016" y="2240280"/>
            <a:ext cx="283464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3 mo</a:t>
            </a:r>
            <a:endParaRPr lang="en-US" sz="6000" dirty="0"/>
          </a:p>
        </p:txBody>
      </p:sp>
      <p:sp>
        <p:nvSpPr>
          <p:cNvPr id="10" name="Text 7"/>
          <p:cNvSpPr txBox="1"/>
          <p:nvPr/>
        </p:nvSpPr>
        <p:spPr>
          <a:xfrm>
            <a:off x="4700016" y="3429000"/>
            <a:ext cx="2834640" cy="1280160"/>
          </a:xfrm>
          <a:prstGeom prst="rect">
            <a:avLst/>
          </a:prstGeom>
          <a:noFill/>
          <a:ln/>
        </p:spPr>
        <p:txBody>
          <a:bodyPr wrap="square" lIns="0" tIns="0" rIns="0" bIns="0" rtlCol="0" anchor="t"/>
          <a:lstStyle/>
          <a:p>
            <a:pPr indent="0" marL="0">
              <a:buNone/>
            </a:pPr>
            <a:r>
              <a:rPr lang="en-US" sz="2000" dirty="0">
                <a:solidFill>
                  <a:schemeClr val="tx1"/>
                </a:solidFill>
              </a:rPr>
              <a:t>typical gap between HbA1c checks, so daily spikes go unseen</a:t>
            </a:r>
            <a:endParaRPr lang="en-US" sz="2000" dirty="0"/>
          </a:p>
        </p:txBody>
      </p:sp>
      <p:sp>
        <p:nvSpPr>
          <p:cNvPr id="11" name="Stat card 3"/>
          <p:cNvSpPr/>
          <p:nvPr/>
        </p:nvSpPr>
        <p:spPr>
          <a:xfrm>
            <a:off x="8119872" y="1920240"/>
            <a:ext cx="3520440" cy="3017520"/>
          </a:xfrm>
          <a:prstGeom prst="roundRect">
            <a:avLst>
              <a:gd name="adj" fmla="val 3636"/>
            </a:avLst>
          </a:prstGeom>
          <a:solidFill>
            <a:schemeClr val="bg2"/>
          </a:solidFill>
          <a:ln w="12700">
            <a:solidFill>
              <a:schemeClr val="bg2"/>
            </a:solidFill>
            <a:prstDash val="solid"/>
          </a:ln>
        </p:spPr>
      </p:sp>
      <p:sp>
        <p:nvSpPr>
          <p:cNvPr id="12" name="Text 9"/>
          <p:cNvSpPr txBox="1"/>
          <p:nvPr/>
        </p:nvSpPr>
        <p:spPr>
          <a:xfrm>
            <a:off x="8485632" y="2240280"/>
            <a:ext cx="283464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0</a:t>
            </a:r>
            <a:endParaRPr lang="en-US" sz="6000" dirty="0"/>
          </a:p>
        </p:txBody>
      </p:sp>
      <p:sp>
        <p:nvSpPr>
          <p:cNvPr id="13" name="Text 10"/>
          <p:cNvSpPr txBox="1"/>
          <p:nvPr/>
        </p:nvSpPr>
        <p:spPr>
          <a:xfrm>
            <a:off x="8485632" y="3429000"/>
            <a:ext cx="2834640" cy="1280160"/>
          </a:xfrm>
          <a:prstGeom prst="rect">
            <a:avLst/>
          </a:prstGeom>
          <a:noFill/>
          <a:ln/>
        </p:spPr>
        <p:txBody>
          <a:bodyPr wrap="square" lIns="0" tIns="0" rIns="0" bIns="0" rtlCol="0" anchor="t"/>
          <a:lstStyle/>
          <a:p>
            <a:pPr indent="0" marL="0">
              <a:buNone/>
            </a:pPr>
            <a:r>
              <a:rPr lang="en-US" sz="2000" dirty="0">
                <a:solidFill>
                  <a:schemeClr val="tx1"/>
                </a:solidFill>
              </a:rPr>
              <a:t>safe ways to test a diet or dose change before prescribing it</a:t>
            </a:r>
            <a:endParaRPr lang="en-US" sz="2000" dirty="0"/>
          </a:p>
        </p:txBody>
      </p:sp>
      <p:sp>
        <p:nvSpPr>
          <p:cNvPr id="14" name="Consequence banner"/>
          <p:cNvSpPr/>
          <p:nvPr/>
        </p:nvSpPr>
        <p:spPr>
          <a:xfrm>
            <a:off x="548640" y="5257800"/>
            <a:ext cx="11091672" cy="868680"/>
          </a:xfrm>
          <a:prstGeom prst="roundRect">
            <a:avLst>
              <a:gd name="adj" fmla="val 12632"/>
            </a:avLst>
          </a:prstGeom>
          <a:solidFill>
            <a:schemeClr val="tx2"/>
          </a:solidFill>
          <a:ln w="12700">
            <a:solidFill>
              <a:schemeClr val="tx2"/>
            </a:solidFill>
            <a:prstDash val="solid"/>
          </a:ln>
        </p:spPr>
      </p:sp>
      <p:sp>
        <p:nvSpPr>
          <p:cNvPr id="15" name="Warning icon circle"/>
          <p:cNvSpPr/>
          <p:nvPr/>
        </p:nvSpPr>
        <p:spPr>
          <a:xfrm>
            <a:off x="822960" y="5468112"/>
            <a:ext cx="457200" cy="457200"/>
          </a:xfrm>
          <a:prstGeom prst="ellipse">
            <a:avLst/>
          </a:prstGeom>
          <a:solidFill>
            <a:schemeClr val="accent2"/>
          </a:solidFill>
          <a:ln w="12700">
            <a:solidFill>
              <a:schemeClr val="accent2"/>
            </a:solidFill>
            <a:prstDash val="solid"/>
          </a:ln>
        </p:spPr>
      </p:sp>
      <p:pic>
        <p:nvPicPr>
          <p:cNvPr id="16" name="Warning icon" descr="Warning icon">    </p:cNvPr>
          <p:cNvPicPr>
            <a:picLocks noChangeAspect="1"/>
          </p:cNvPicPr>
          <p:nvPr/>
        </p:nvPicPr>
        <p:blipFill>
          <a:blip r:embed="rId1"/>
          <a:stretch>
            <a:fillRect/>
          </a:stretch>
        </p:blipFill>
        <p:spPr>
          <a:xfrm>
            <a:off x="937260" y="5582412"/>
            <a:ext cx="228600" cy="228600"/>
          </a:xfrm>
          <a:prstGeom prst="rect">
            <a:avLst/>
          </a:prstGeom>
        </p:spPr>
      </p:pic>
      <p:sp>
        <p:nvSpPr>
          <p:cNvPr id="17" name="Text 13"/>
          <p:cNvSpPr txBox="1"/>
          <p:nvPr/>
        </p:nvSpPr>
        <p:spPr>
          <a:xfrm>
            <a:off x="1508760" y="5257800"/>
            <a:ext cx="9784080" cy="868680"/>
          </a:xfrm>
          <a:prstGeom prst="rect">
            <a:avLst/>
          </a:prstGeom>
          <a:noFill/>
          <a:ln/>
        </p:spPr>
        <p:txBody>
          <a:bodyPr wrap="square" lIns="0" tIns="0" rIns="0" bIns="0" rtlCol="0" anchor="ctr"/>
          <a:lstStyle/>
          <a:p>
            <a:pPr indent="0" marL="0">
              <a:buNone/>
            </a:pPr>
            <a:r>
              <a:rPr lang="en-US" sz="1800" dirty="0">
                <a:solidFill>
                  <a:schemeClr val="bg1"/>
                </a:solidFill>
              </a:rPr>
              <a:t>Post-meal spikes quietly drive neuropathy, nephropathy, retinopathy and heart disease.</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Our Solution</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EHR history + wearable stream = a living virtual patient</a:t>
            </a:r>
            <a:endParaRPr lang="en-US" sz="1800" dirty="0"/>
          </a:p>
        </p:txBody>
      </p:sp>
      <p:sp>
        <p:nvSpPr>
          <p:cNvPr id="5" name="Solution card 1"/>
          <p:cNvSpPr/>
          <p:nvPr/>
        </p:nvSpPr>
        <p:spPr>
          <a:xfrm>
            <a:off x="548640" y="1920240"/>
            <a:ext cx="3520440" cy="3108960"/>
          </a:xfrm>
          <a:prstGeom prst="roundRect">
            <a:avLst>
              <a:gd name="adj" fmla="val 3529"/>
            </a:avLst>
          </a:prstGeom>
          <a:solidFill>
            <a:schemeClr val="bg2"/>
          </a:solidFill>
          <a:ln w="12700">
            <a:solidFill>
              <a:schemeClr val="bg2"/>
            </a:solidFill>
            <a:prstDash val="solid"/>
          </a:ln>
        </p:spPr>
      </p:sp>
      <p:sp>
        <p:nvSpPr>
          <p:cNvPr id="6" name="Fuse icon circle"/>
          <p:cNvSpPr/>
          <p:nvPr/>
        </p:nvSpPr>
        <p:spPr>
          <a:xfrm>
            <a:off x="914400" y="2240280"/>
            <a:ext cx="777240" cy="777240"/>
          </a:xfrm>
          <a:prstGeom prst="ellipse">
            <a:avLst/>
          </a:prstGeom>
          <a:solidFill>
            <a:schemeClr val="accent1"/>
          </a:solidFill>
          <a:ln w="12700">
            <a:solidFill>
              <a:schemeClr val="accent1"/>
            </a:solidFill>
            <a:prstDash val="solid"/>
          </a:ln>
        </p:spPr>
      </p:sp>
      <p:pic>
        <p:nvPicPr>
          <p:cNvPr id="7" name="Fuse icon" descr="Fuse icon">    </p:cNvPr>
          <p:cNvPicPr>
            <a:picLocks noChangeAspect="1"/>
          </p:cNvPicPr>
          <p:nvPr/>
        </p:nvPicPr>
        <p:blipFill>
          <a:blip r:embed="rId1"/>
          <a:stretch>
            <a:fillRect/>
          </a:stretch>
        </p:blipFill>
        <p:spPr>
          <a:xfrm>
            <a:off x="1108710" y="2434590"/>
            <a:ext cx="388620" cy="388620"/>
          </a:xfrm>
          <a:prstGeom prst="rect">
            <a:avLst/>
          </a:prstGeom>
        </p:spPr>
      </p:pic>
      <p:sp>
        <p:nvSpPr>
          <p:cNvPr id="8" name="Text 4"/>
          <p:cNvSpPr txBox="1"/>
          <p:nvPr/>
        </p:nvSpPr>
        <p:spPr>
          <a:xfrm>
            <a:off x="914400" y="3200400"/>
            <a:ext cx="28346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Fuse</a:t>
            </a:r>
            <a:endParaRPr lang="en-US" sz="2600" dirty="0"/>
          </a:p>
        </p:txBody>
      </p:sp>
      <p:sp>
        <p:nvSpPr>
          <p:cNvPr id="9" name="Text 5"/>
          <p:cNvSpPr txBox="1"/>
          <p:nvPr/>
        </p:nvSpPr>
        <p:spPr>
          <a:xfrm>
            <a:off x="914400" y="3749040"/>
            <a:ext cx="2834640" cy="1188720"/>
          </a:xfrm>
          <a:prstGeom prst="rect">
            <a:avLst/>
          </a:prstGeom>
          <a:noFill/>
          <a:ln/>
        </p:spPr>
        <p:txBody>
          <a:bodyPr wrap="square" lIns="0" tIns="0" rIns="0" bIns="0" rtlCol="0" anchor="t"/>
          <a:lstStyle/>
          <a:p>
            <a:pPr indent="0" marL="0">
              <a:buNone/>
            </a:pPr>
            <a:r>
              <a:rPr lang="en-US" sz="1600" dirty="0">
                <a:solidFill>
                  <a:schemeClr val="tx1"/>
                </a:solidFill>
              </a:rPr>
              <a:t>Static EHR and 7 days of glucose, heart rate, steps and sleep, combined into one patient model.</a:t>
            </a:r>
            <a:endParaRPr lang="en-US" sz="1600" dirty="0"/>
          </a:p>
        </p:txBody>
      </p:sp>
      <p:sp>
        <p:nvSpPr>
          <p:cNvPr id="10" name="Solution card 2"/>
          <p:cNvSpPr/>
          <p:nvPr/>
        </p:nvSpPr>
        <p:spPr>
          <a:xfrm>
            <a:off x="4334256" y="1920240"/>
            <a:ext cx="3520440" cy="3108960"/>
          </a:xfrm>
          <a:prstGeom prst="roundRect">
            <a:avLst>
              <a:gd name="adj" fmla="val 3529"/>
            </a:avLst>
          </a:prstGeom>
          <a:solidFill>
            <a:schemeClr val="bg2"/>
          </a:solidFill>
          <a:ln w="12700">
            <a:solidFill>
              <a:schemeClr val="bg2"/>
            </a:solidFill>
            <a:prstDash val="solid"/>
          </a:ln>
        </p:spPr>
      </p:sp>
      <p:sp>
        <p:nvSpPr>
          <p:cNvPr id="11" name="Predict icon circle"/>
          <p:cNvSpPr/>
          <p:nvPr/>
        </p:nvSpPr>
        <p:spPr>
          <a:xfrm>
            <a:off x="4700016" y="2240280"/>
            <a:ext cx="777240" cy="777240"/>
          </a:xfrm>
          <a:prstGeom prst="ellipse">
            <a:avLst/>
          </a:prstGeom>
          <a:solidFill>
            <a:schemeClr val="accent1"/>
          </a:solidFill>
          <a:ln w="12700">
            <a:solidFill>
              <a:schemeClr val="accent1"/>
            </a:solidFill>
            <a:prstDash val="solid"/>
          </a:ln>
        </p:spPr>
      </p:sp>
      <p:pic>
        <p:nvPicPr>
          <p:cNvPr id="12" name="Predict icon" descr="Predict icon">    </p:cNvPr>
          <p:cNvPicPr>
            <a:picLocks noChangeAspect="1"/>
          </p:cNvPicPr>
          <p:nvPr/>
        </p:nvPicPr>
        <p:blipFill>
          <a:blip r:embed="rId2"/>
          <a:stretch>
            <a:fillRect/>
          </a:stretch>
        </p:blipFill>
        <p:spPr>
          <a:xfrm>
            <a:off x="4894326" y="2434590"/>
            <a:ext cx="388620" cy="388620"/>
          </a:xfrm>
          <a:prstGeom prst="rect">
            <a:avLst/>
          </a:prstGeom>
        </p:spPr>
      </p:pic>
      <p:sp>
        <p:nvSpPr>
          <p:cNvPr id="13" name="Text 8"/>
          <p:cNvSpPr txBox="1"/>
          <p:nvPr/>
        </p:nvSpPr>
        <p:spPr>
          <a:xfrm>
            <a:off x="4700016" y="3200400"/>
            <a:ext cx="28346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Predict</a:t>
            </a:r>
            <a:endParaRPr lang="en-US" sz="2600" dirty="0"/>
          </a:p>
        </p:txBody>
      </p:sp>
      <p:sp>
        <p:nvSpPr>
          <p:cNvPr id="14" name="Text 9"/>
          <p:cNvSpPr txBox="1"/>
          <p:nvPr/>
        </p:nvSpPr>
        <p:spPr>
          <a:xfrm>
            <a:off x="4700016" y="3749040"/>
            <a:ext cx="2834640" cy="1188720"/>
          </a:xfrm>
          <a:prstGeom prst="rect">
            <a:avLst/>
          </a:prstGeom>
          <a:noFill/>
          <a:ln/>
        </p:spPr>
        <p:txBody>
          <a:bodyPr wrap="square" lIns="0" tIns="0" rIns="0" bIns="0" rtlCol="0" anchor="t"/>
          <a:lstStyle/>
          <a:p>
            <a:pPr indent="0" marL="0">
              <a:buNone/>
            </a:pPr>
            <a:r>
              <a:rPr lang="en-US" sz="1600" dirty="0">
                <a:solidFill>
                  <a:schemeClr val="tx1"/>
                </a:solidFill>
              </a:rPr>
              <a:t>A glucose spike above 180 mg/dL, 2 hours ahead, with the top reasons behind every alert.</a:t>
            </a:r>
            <a:endParaRPr lang="en-US" sz="1600" dirty="0"/>
          </a:p>
        </p:txBody>
      </p:sp>
      <p:sp>
        <p:nvSpPr>
          <p:cNvPr id="15" name="Solution card 3"/>
          <p:cNvSpPr/>
          <p:nvPr/>
        </p:nvSpPr>
        <p:spPr>
          <a:xfrm>
            <a:off x="8119872" y="1920240"/>
            <a:ext cx="3520440" cy="3108960"/>
          </a:xfrm>
          <a:prstGeom prst="roundRect">
            <a:avLst>
              <a:gd name="adj" fmla="val 3529"/>
            </a:avLst>
          </a:prstGeom>
          <a:solidFill>
            <a:schemeClr val="bg2"/>
          </a:solidFill>
          <a:ln w="12700">
            <a:solidFill>
              <a:schemeClr val="bg2"/>
            </a:solidFill>
            <a:prstDash val="solid"/>
          </a:ln>
        </p:spPr>
      </p:sp>
      <p:sp>
        <p:nvSpPr>
          <p:cNvPr id="16" name="Simulate icon circle"/>
          <p:cNvSpPr/>
          <p:nvPr/>
        </p:nvSpPr>
        <p:spPr>
          <a:xfrm>
            <a:off x="8485632" y="2240280"/>
            <a:ext cx="777240" cy="777240"/>
          </a:xfrm>
          <a:prstGeom prst="ellipse">
            <a:avLst/>
          </a:prstGeom>
          <a:solidFill>
            <a:schemeClr val="accent1"/>
          </a:solidFill>
          <a:ln w="12700">
            <a:solidFill>
              <a:schemeClr val="accent1"/>
            </a:solidFill>
            <a:prstDash val="solid"/>
          </a:ln>
        </p:spPr>
      </p:sp>
      <p:pic>
        <p:nvPicPr>
          <p:cNvPr id="17" name="Simulate icon" descr="Simulate icon">    </p:cNvPr>
          <p:cNvPicPr>
            <a:picLocks noChangeAspect="1"/>
          </p:cNvPicPr>
          <p:nvPr/>
        </p:nvPicPr>
        <p:blipFill>
          <a:blip r:embed="rId3"/>
          <a:stretch>
            <a:fillRect/>
          </a:stretch>
        </p:blipFill>
        <p:spPr>
          <a:xfrm>
            <a:off x="8679942" y="2434590"/>
            <a:ext cx="388620" cy="388620"/>
          </a:xfrm>
          <a:prstGeom prst="rect">
            <a:avLst/>
          </a:prstGeom>
        </p:spPr>
      </p:pic>
      <p:sp>
        <p:nvSpPr>
          <p:cNvPr id="18" name="Text 12"/>
          <p:cNvSpPr txBox="1"/>
          <p:nvPr/>
        </p:nvSpPr>
        <p:spPr>
          <a:xfrm>
            <a:off x="8485632" y="3200400"/>
            <a:ext cx="28346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Simulate</a:t>
            </a:r>
            <a:endParaRPr lang="en-US" sz="2600" dirty="0"/>
          </a:p>
        </p:txBody>
      </p:sp>
      <p:sp>
        <p:nvSpPr>
          <p:cNvPr id="19" name="Text 13"/>
          <p:cNvSpPr txBox="1"/>
          <p:nvPr/>
        </p:nvSpPr>
        <p:spPr>
          <a:xfrm>
            <a:off x="8485632" y="3749040"/>
            <a:ext cx="2834640" cy="1188720"/>
          </a:xfrm>
          <a:prstGeom prst="rect">
            <a:avLst/>
          </a:prstGeom>
          <a:noFill/>
          <a:ln/>
        </p:spPr>
        <p:txBody>
          <a:bodyPr wrap="square" lIns="0" tIns="0" rIns="0" bIns="0" rtlCol="0" anchor="t"/>
          <a:lstStyle/>
          <a:p>
            <a:pPr indent="0" marL="0">
              <a:buNone/>
            </a:pPr>
            <a:r>
              <a:rPr lang="en-US" sz="1600" dirty="0">
                <a:solidFill>
                  <a:schemeClr val="tx1"/>
                </a:solidFill>
              </a:rPr>
              <a:t>Test diet, medication and walking changes on the twin before they reach the patient.</a:t>
            </a:r>
            <a:endParaRPr lang="en-US" sz="1600" dirty="0"/>
          </a:p>
        </p:txBody>
      </p:sp>
      <p:sp>
        <p:nvSpPr>
          <p:cNvPr id="20" name="Text 14"/>
          <p:cNvSpPr txBox="1"/>
          <p:nvPr/>
        </p:nvSpPr>
        <p:spPr>
          <a:xfrm>
            <a:off x="548640" y="5486400"/>
            <a:ext cx="1188720" cy="411480"/>
          </a:xfrm>
          <a:prstGeom prst="rect">
            <a:avLst/>
          </a:prstGeom>
          <a:noFill/>
          <a:ln/>
        </p:spPr>
        <p:txBody>
          <a:bodyPr wrap="square" lIns="0" tIns="0" rIns="0" bIns="0" rtlCol="0" anchor="ctr"/>
          <a:lstStyle/>
          <a:p>
            <a:pPr indent="0" marL="0">
              <a:buNone/>
            </a:pPr>
            <a:r>
              <a:rPr lang="en-US" sz="1400" dirty="0">
                <a:solidFill>
                  <a:schemeClr val="accent5"/>
                </a:solidFill>
              </a:rPr>
              <a:t>Built with</a:t>
            </a:r>
            <a:endParaRPr lang="en-US" sz="1400" dirty="0"/>
          </a:p>
        </p:txBody>
      </p:sp>
      <p:sp>
        <p:nvSpPr>
          <p:cNvPr id="21" name="Chip Python"/>
          <p:cNvSpPr/>
          <p:nvPr/>
        </p:nvSpPr>
        <p:spPr>
          <a:xfrm>
            <a:off x="1737360" y="5486400"/>
            <a:ext cx="1417320" cy="411480"/>
          </a:xfrm>
          <a:prstGeom prst="roundRect">
            <a:avLst>
              <a:gd name="adj" fmla="val 48889"/>
            </a:avLst>
          </a:prstGeom>
          <a:solidFill>
            <a:schemeClr val="bg2"/>
          </a:solidFill>
          <a:ln w="12700">
            <a:solidFill>
              <a:schemeClr val="bg2"/>
            </a:solidFill>
            <a:prstDash val="solid"/>
          </a:ln>
        </p:spPr>
      </p:sp>
      <p:sp>
        <p:nvSpPr>
          <p:cNvPr id="22" name="Text 16"/>
          <p:cNvSpPr txBox="1"/>
          <p:nvPr/>
        </p:nvSpPr>
        <p:spPr>
          <a:xfrm>
            <a:off x="1737360" y="5486400"/>
            <a:ext cx="1417320" cy="411480"/>
          </a:xfrm>
          <a:prstGeom prst="rect">
            <a:avLst/>
          </a:prstGeom>
          <a:noFill/>
          <a:ln/>
        </p:spPr>
        <p:txBody>
          <a:bodyPr wrap="square" lIns="0" tIns="0" rIns="0" bIns="0" rtlCol="0" anchor="ctr"/>
          <a:lstStyle/>
          <a:p>
            <a:pPr algn="ctr" indent="0" marL="0">
              <a:buNone/>
            </a:pPr>
            <a:r>
              <a:rPr lang="en-US" sz="1400" b="1" dirty="0">
                <a:solidFill>
                  <a:schemeClr val="tx2"/>
                </a:solidFill>
              </a:rPr>
              <a:t>Python</a:t>
            </a:r>
            <a:endParaRPr lang="en-US" sz="1400" dirty="0"/>
          </a:p>
        </p:txBody>
      </p:sp>
      <p:sp>
        <p:nvSpPr>
          <p:cNvPr id="23" name="Chip XGBoost"/>
          <p:cNvSpPr/>
          <p:nvPr/>
        </p:nvSpPr>
        <p:spPr>
          <a:xfrm>
            <a:off x="3337560" y="5486400"/>
            <a:ext cx="1417320" cy="411480"/>
          </a:xfrm>
          <a:prstGeom prst="roundRect">
            <a:avLst>
              <a:gd name="adj" fmla="val 48889"/>
            </a:avLst>
          </a:prstGeom>
          <a:solidFill>
            <a:schemeClr val="bg2"/>
          </a:solidFill>
          <a:ln w="12700">
            <a:solidFill>
              <a:schemeClr val="bg2"/>
            </a:solidFill>
            <a:prstDash val="solid"/>
          </a:ln>
        </p:spPr>
      </p:sp>
      <p:sp>
        <p:nvSpPr>
          <p:cNvPr id="24" name="Text 18"/>
          <p:cNvSpPr txBox="1"/>
          <p:nvPr/>
        </p:nvSpPr>
        <p:spPr>
          <a:xfrm>
            <a:off x="3337560" y="5486400"/>
            <a:ext cx="1417320" cy="411480"/>
          </a:xfrm>
          <a:prstGeom prst="rect">
            <a:avLst/>
          </a:prstGeom>
          <a:noFill/>
          <a:ln/>
        </p:spPr>
        <p:txBody>
          <a:bodyPr wrap="square" lIns="0" tIns="0" rIns="0" bIns="0" rtlCol="0" anchor="ctr"/>
          <a:lstStyle/>
          <a:p>
            <a:pPr algn="ctr" indent="0" marL="0">
              <a:buNone/>
            </a:pPr>
            <a:r>
              <a:rPr lang="en-US" sz="1400" b="1" dirty="0">
                <a:solidFill>
                  <a:schemeClr val="tx2"/>
                </a:solidFill>
              </a:rPr>
              <a:t>XGBoost</a:t>
            </a:r>
            <a:endParaRPr lang="en-US" sz="1400" dirty="0"/>
          </a:p>
        </p:txBody>
      </p:sp>
      <p:sp>
        <p:nvSpPr>
          <p:cNvPr id="25" name="Chip scikit-learn"/>
          <p:cNvSpPr/>
          <p:nvPr/>
        </p:nvSpPr>
        <p:spPr>
          <a:xfrm>
            <a:off x="4937760" y="5486400"/>
            <a:ext cx="1417320" cy="411480"/>
          </a:xfrm>
          <a:prstGeom prst="roundRect">
            <a:avLst>
              <a:gd name="adj" fmla="val 48889"/>
            </a:avLst>
          </a:prstGeom>
          <a:solidFill>
            <a:schemeClr val="bg2"/>
          </a:solidFill>
          <a:ln w="12700">
            <a:solidFill>
              <a:schemeClr val="bg2"/>
            </a:solidFill>
            <a:prstDash val="solid"/>
          </a:ln>
        </p:spPr>
      </p:sp>
      <p:sp>
        <p:nvSpPr>
          <p:cNvPr id="26" name="Text 20"/>
          <p:cNvSpPr txBox="1"/>
          <p:nvPr/>
        </p:nvSpPr>
        <p:spPr>
          <a:xfrm>
            <a:off x="4937760" y="5486400"/>
            <a:ext cx="1417320" cy="411480"/>
          </a:xfrm>
          <a:prstGeom prst="rect">
            <a:avLst/>
          </a:prstGeom>
          <a:noFill/>
          <a:ln/>
        </p:spPr>
        <p:txBody>
          <a:bodyPr wrap="square" lIns="0" tIns="0" rIns="0" bIns="0" rtlCol="0" anchor="ctr"/>
          <a:lstStyle/>
          <a:p>
            <a:pPr algn="ctr" indent="0" marL="0">
              <a:buNone/>
            </a:pPr>
            <a:r>
              <a:rPr lang="en-US" sz="1400" b="1" dirty="0">
                <a:solidFill>
                  <a:schemeClr val="tx2"/>
                </a:solidFill>
              </a:rPr>
              <a:t>scikit-learn</a:t>
            </a:r>
            <a:endParaRPr lang="en-US" sz="1400" dirty="0"/>
          </a:p>
        </p:txBody>
      </p:sp>
      <p:sp>
        <p:nvSpPr>
          <p:cNvPr id="27" name="Chip Streamlit"/>
          <p:cNvSpPr/>
          <p:nvPr/>
        </p:nvSpPr>
        <p:spPr>
          <a:xfrm>
            <a:off x="6537960" y="5486400"/>
            <a:ext cx="1417320" cy="411480"/>
          </a:xfrm>
          <a:prstGeom prst="roundRect">
            <a:avLst>
              <a:gd name="adj" fmla="val 48889"/>
            </a:avLst>
          </a:prstGeom>
          <a:solidFill>
            <a:schemeClr val="bg2"/>
          </a:solidFill>
          <a:ln w="12700">
            <a:solidFill>
              <a:schemeClr val="bg2"/>
            </a:solidFill>
            <a:prstDash val="solid"/>
          </a:ln>
        </p:spPr>
      </p:sp>
      <p:sp>
        <p:nvSpPr>
          <p:cNvPr id="28" name="Text 22"/>
          <p:cNvSpPr txBox="1"/>
          <p:nvPr/>
        </p:nvSpPr>
        <p:spPr>
          <a:xfrm>
            <a:off x="6537960" y="5486400"/>
            <a:ext cx="1417320" cy="411480"/>
          </a:xfrm>
          <a:prstGeom prst="rect">
            <a:avLst/>
          </a:prstGeom>
          <a:noFill/>
          <a:ln/>
        </p:spPr>
        <p:txBody>
          <a:bodyPr wrap="square" lIns="0" tIns="0" rIns="0" bIns="0" rtlCol="0" anchor="ctr"/>
          <a:lstStyle/>
          <a:p>
            <a:pPr algn="ctr" indent="0" marL="0">
              <a:buNone/>
            </a:pPr>
            <a:r>
              <a:rPr lang="en-US" sz="1400" b="1" dirty="0">
                <a:solidFill>
                  <a:schemeClr val="tx2"/>
                </a:solidFill>
              </a:rPr>
              <a:t>Streamlit</a:t>
            </a:r>
            <a:endParaRPr lang="en-US" sz="1400" dirty="0"/>
          </a:p>
        </p:txBody>
      </p:sp>
      <p:sp>
        <p:nvSpPr>
          <p:cNvPr id="29" name="Chip Plotly"/>
          <p:cNvSpPr/>
          <p:nvPr/>
        </p:nvSpPr>
        <p:spPr>
          <a:xfrm>
            <a:off x="8138160" y="5486400"/>
            <a:ext cx="1417320" cy="411480"/>
          </a:xfrm>
          <a:prstGeom prst="roundRect">
            <a:avLst>
              <a:gd name="adj" fmla="val 48889"/>
            </a:avLst>
          </a:prstGeom>
          <a:solidFill>
            <a:schemeClr val="bg2"/>
          </a:solidFill>
          <a:ln w="12700">
            <a:solidFill>
              <a:schemeClr val="bg2"/>
            </a:solidFill>
            <a:prstDash val="solid"/>
          </a:ln>
        </p:spPr>
      </p:sp>
      <p:sp>
        <p:nvSpPr>
          <p:cNvPr id="30" name="Text 24"/>
          <p:cNvSpPr txBox="1"/>
          <p:nvPr/>
        </p:nvSpPr>
        <p:spPr>
          <a:xfrm>
            <a:off x="8138160" y="5486400"/>
            <a:ext cx="1417320" cy="411480"/>
          </a:xfrm>
          <a:prstGeom prst="rect">
            <a:avLst/>
          </a:prstGeom>
          <a:noFill/>
          <a:ln/>
        </p:spPr>
        <p:txBody>
          <a:bodyPr wrap="square" lIns="0" tIns="0" rIns="0" bIns="0" rtlCol="0" anchor="ctr"/>
          <a:lstStyle/>
          <a:p>
            <a:pPr algn="ctr" indent="0" marL="0">
              <a:buNone/>
            </a:pPr>
            <a:r>
              <a:rPr lang="en-US" sz="1400" b="1" dirty="0">
                <a:solidFill>
                  <a:schemeClr val="tx2"/>
                </a:solidFill>
              </a:rPr>
              <a:t>Plotly</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Healthcare Use Case</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Type 2 Diabetes: continuous glucose and metabolic management</a:t>
            </a:r>
            <a:endParaRPr lang="en-US" sz="1800" dirty="0"/>
          </a:p>
        </p:txBody>
      </p:sp>
      <p:sp>
        <p:nvSpPr>
          <p:cNvPr id="5" name="Use case row 1"/>
          <p:cNvSpPr/>
          <p:nvPr/>
        </p:nvSpPr>
        <p:spPr>
          <a:xfrm>
            <a:off x="548640" y="1874520"/>
            <a:ext cx="6309360" cy="896112"/>
          </a:xfrm>
          <a:prstGeom prst="roundRect">
            <a:avLst>
              <a:gd name="adj" fmla="val 12245"/>
            </a:avLst>
          </a:prstGeom>
          <a:solidFill>
            <a:schemeClr val="bg2"/>
          </a:solidFill>
          <a:ln w="12700">
            <a:solidFill>
              <a:schemeClr val="bg2"/>
            </a:solidFill>
            <a:prstDash val="solid"/>
          </a:ln>
        </p:spPr>
      </p:sp>
      <p:sp>
        <p:nvSpPr>
          <p:cNvPr id="6" name="Text 3"/>
          <p:cNvSpPr txBox="1"/>
          <p:nvPr/>
        </p:nvSpPr>
        <p:spPr>
          <a:xfrm>
            <a:off x="822960" y="2002536"/>
            <a:ext cx="5760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CONDITION</a:t>
            </a:r>
            <a:endParaRPr lang="en-US" sz="1200" dirty="0"/>
          </a:p>
        </p:txBody>
      </p:sp>
      <p:sp>
        <p:nvSpPr>
          <p:cNvPr id="7" name="Text 4"/>
          <p:cNvSpPr txBox="1"/>
          <p:nvPr/>
        </p:nvSpPr>
        <p:spPr>
          <a:xfrm>
            <a:off x="822960" y="2295144"/>
            <a:ext cx="5760720" cy="384048"/>
          </a:xfrm>
          <a:prstGeom prst="rect">
            <a:avLst/>
          </a:prstGeom>
          <a:noFill/>
          <a:ln/>
        </p:spPr>
        <p:txBody>
          <a:bodyPr wrap="square" lIns="0" tIns="0" rIns="0" bIns="0" rtlCol="0" anchor="t"/>
          <a:lstStyle/>
          <a:p>
            <a:pPr indent="0" marL="0">
              <a:buNone/>
            </a:pPr>
            <a:r>
              <a:rPr lang="en-US" sz="1700" dirty="0">
                <a:solidFill>
                  <a:schemeClr val="tx1"/>
                </a:solidFill>
              </a:rPr>
              <a:t>Type 2 Diabetes: glucose and metabolic management</a:t>
            </a:r>
            <a:endParaRPr lang="en-US" sz="1700" dirty="0"/>
          </a:p>
        </p:txBody>
      </p:sp>
      <p:sp>
        <p:nvSpPr>
          <p:cNvPr id="8" name="Use case row 2"/>
          <p:cNvSpPr/>
          <p:nvPr/>
        </p:nvSpPr>
        <p:spPr>
          <a:xfrm>
            <a:off x="548640" y="2926080"/>
            <a:ext cx="6309360" cy="896112"/>
          </a:xfrm>
          <a:prstGeom prst="roundRect">
            <a:avLst>
              <a:gd name="adj" fmla="val 12245"/>
            </a:avLst>
          </a:prstGeom>
          <a:solidFill>
            <a:schemeClr val="bg2"/>
          </a:solidFill>
          <a:ln w="12700">
            <a:solidFill>
              <a:schemeClr val="bg2"/>
            </a:solidFill>
            <a:prstDash val="solid"/>
          </a:ln>
        </p:spPr>
      </p:sp>
      <p:sp>
        <p:nvSpPr>
          <p:cNvPr id="9" name="Text 6"/>
          <p:cNvSpPr txBox="1"/>
          <p:nvPr/>
        </p:nvSpPr>
        <p:spPr>
          <a:xfrm>
            <a:off x="822960" y="3054096"/>
            <a:ext cx="5760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ADVERSE EVENT</a:t>
            </a:r>
            <a:endParaRPr lang="en-US" sz="1200" dirty="0"/>
          </a:p>
        </p:txBody>
      </p:sp>
      <p:sp>
        <p:nvSpPr>
          <p:cNvPr id="10" name="Text 7"/>
          <p:cNvSpPr txBox="1"/>
          <p:nvPr/>
        </p:nvSpPr>
        <p:spPr>
          <a:xfrm>
            <a:off x="822960" y="3346704"/>
            <a:ext cx="5760720" cy="384048"/>
          </a:xfrm>
          <a:prstGeom prst="rect">
            <a:avLst/>
          </a:prstGeom>
          <a:noFill/>
          <a:ln/>
        </p:spPr>
        <p:txBody>
          <a:bodyPr wrap="square" lIns="0" tIns="0" rIns="0" bIns="0" rtlCol="0" anchor="t"/>
          <a:lstStyle/>
          <a:p>
            <a:pPr indent="0" marL="0">
              <a:buNone/>
            </a:pPr>
            <a:r>
              <a:rPr lang="en-US" sz="1700" dirty="0">
                <a:solidFill>
                  <a:schemeClr val="tx1"/>
                </a:solidFill>
              </a:rPr>
              <a:t>Glucose above 180 mg/dL, predicted 120 minutes ahead</a:t>
            </a:r>
            <a:endParaRPr lang="en-US" sz="1700" dirty="0"/>
          </a:p>
        </p:txBody>
      </p:sp>
      <p:sp>
        <p:nvSpPr>
          <p:cNvPr id="11" name="Use case row 3"/>
          <p:cNvSpPr/>
          <p:nvPr/>
        </p:nvSpPr>
        <p:spPr>
          <a:xfrm>
            <a:off x="548640" y="3977640"/>
            <a:ext cx="6309360" cy="896112"/>
          </a:xfrm>
          <a:prstGeom prst="roundRect">
            <a:avLst>
              <a:gd name="adj" fmla="val 12245"/>
            </a:avLst>
          </a:prstGeom>
          <a:solidFill>
            <a:schemeClr val="bg2"/>
          </a:solidFill>
          <a:ln w="12700">
            <a:solidFill>
              <a:schemeClr val="bg2"/>
            </a:solidFill>
            <a:prstDash val="solid"/>
          </a:ln>
        </p:spPr>
      </p:sp>
      <p:sp>
        <p:nvSpPr>
          <p:cNvPr id="12" name="Text 9"/>
          <p:cNvSpPr txBox="1"/>
          <p:nvPr/>
        </p:nvSpPr>
        <p:spPr>
          <a:xfrm>
            <a:off x="822960" y="4105656"/>
            <a:ext cx="5760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2 HOURS</a:t>
            </a:r>
            <a:endParaRPr lang="en-US" sz="1200" dirty="0"/>
          </a:p>
        </p:txBody>
      </p:sp>
      <p:sp>
        <p:nvSpPr>
          <p:cNvPr id="13" name="Text 10"/>
          <p:cNvSpPr txBox="1"/>
          <p:nvPr/>
        </p:nvSpPr>
        <p:spPr>
          <a:xfrm>
            <a:off x="822960" y="4398264"/>
            <a:ext cx="5760720" cy="384048"/>
          </a:xfrm>
          <a:prstGeom prst="rect">
            <a:avLst/>
          </a:prstGeom>
          <a:noFill/>
          <a:ln/>
        </p:spPr>
        <p:txBody>
          <a:bodyPr wrap="square" lIns="0" tIns="0" rIns="0" bIns="0" rtlCol="0" anchor="t"/>
          <a:lstStyle/>
          <a:p>
            <a:pPr indent="0" marL="0">
              <a:buNone/>
            </a:pPr>
            <a:r>
              <a:rPr lang="en-US" sz="1700" dirty="0">
                <a:solidFill>
                  <a:schemeClr val="tx1"/>
                </a:solidFill>
              </a:rPr>
              <a:t>Time to act: a walk, a lighter meal, a dose, a call</a:t>
            </a:r>
            <a:endParaRPr lang="en-US" sz="1700" dirty="0"/>
          </a:p>
        </p:txBody>
      </p:sp>
      <p:sp>
        <p:nvSpPr>
          <p:cNvPr id="14" name="Use case row 4"/>
          <p:cNvSpPr/>
          <p:nvPr/>
        </p:nvSpPr>
        <p:spPr>
          <a:xfrm>
            <a:off x="548640" y="5029200"/>
            <a:ext cx="6309360" cy="896112"/>
          </a:xfrm>
          <a:prstGeom prst="roundRect">
            <a:avLst>
              <a:gd name="adj" fmla="val 12245"/>
            </a:avLst>
          </a:prstGeom>
          <a:solidFill>
            <a:schemeClr val="bg2"/>
          </a:solidFill>
          <a:ln w="12700">
            <a:solidFill>
              <a:schemeClr val="bg2"/>
            </a:solidFill>
            <a:prstDash val="solid"/>
          </a:ln>
        </p:spPr>
      </p:sp>
      <p:sp>
        <p:nvSpPr>
          <p:cNvPr id="15" name="Text 12"/>
          <p:cNvSpPr txBox="1"/>
          <p:nvPr/>
        </p:nvSpPr>
        <p:spPr>
          <a:xfrm>
            <a:off x="822960" y="5157216"/>
            <a:ext cx="5760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PRIMARY USERS</a:t>
            </a:r>
            <a:endParaRPr lang="en-US" sz="1200" dirty="0"/>
          </a:p>
        </p:txBody>
      </p:sp>
      <p:sp>
        <p:nvSpPr>
          <p:cNvPr id="16" name="Text 13"/>
          <p:cNvSpPr txBox="1"/>
          <p:nvPr/>
        </p:nvSpPr>
        <p:spPr>
          <a:xfrm>
            <a:off x="822960" y="5449824"/>
            <a:ext cx="5760720" cy="384048"/>
          </a:xfrm>
          <a:prstGeom prst="rect">
            <a:avLst/>
          </a:prstGeom>
          <a:noFill/>
          <a:ln/>
        </p:spPr>
        <p:txBody>
          <a:bodyPr wrap="square" lIns="0" tIns="0" rIns="0" bIns="0" rtlCol="0" anchor="t"/>
          <a:lstStyle/>
          <a:p>
            <a:pPr indent="0" marL="0">
              <a:buNone/>
            </a:pPr>
            <a:r>
              <a:rPr lang="en-US" sz="1700" dirty="0">
                <a:solidFill>
                  <a:schemeClr val="tx1"/>
                </a:solidFill>
              </a:rPr>
              <a:t>Diabetologists and physicians; care coaches</a:t>
            </a:r>
            <a:endParaRPr lang="en-US" sz="1700" dirty="0"/>
          </a:p>
        </p:txBody>
      </p:sp>
      <p:sp>
        <p:nvSpPr>
          <p:cNvPr id="17" name="Indian context card"/>
          <p:cNvSpPr/>
          <p:nvPr/>
        </p:nvSpPr>
        <p:spPr>
          <a:xfrm>
            <a:off x="7132320" y="1874520"/>
            <a:ext cx="4507992" cy="4096512"/>
          </a:xfrm>
          <a:prstGeom prst="roundRect">
            <a:avLst>
              <a:gd name="adj" fmla="val 2679"/>
            </a:avLst>
          </a:prstGeom>
          <a:solidFill>
            <a:schemeClr val="tx2"/>
          </a:solidFill>
          <a:ln w="12700">
            <a:solidFill>
              <a:schemeClr val="tx2"/>
            </a:solidFill>
            <a:prstDash val="solid"/>
          </a:ln>
        </p:spPr>
      </p:sp>
      <p:sp>
        <p:nvSpPr>
          <p:cNvPr id="18" name="Text 15"/>
          <p:cNvSpPr txBox="1"/>
          <p:nvPr/>
        </p:nvSpPr>
        <p:spPr>
          <a:xfrm>
            <a:off x="7452360" y="2103120"/>
            <a:ext cx="39319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Built for Indian patients</a:t>
            </a:r>
            <a:endParaRPr lang="en-US" sz="2200" dirty="0"/>
          </a:p>
        </p:txBody>
      </p:sp>
      <p:sp>
        <p:nvSpPr>
          <p:cNvPr id="19" name="Context icon 1 circle"/>
          <p:cNvSpPr/>
          <p:nvPr/>
        </p:nvSpPr>
        <p:spPr>
          <a:xfrm>
            <a:off x="7452360" y="2743200"/>
            <a:ext cx="502920" cy="502920"/>
          </a:xfrm>
          <a:prstGeom prst="ellipse">
            <a:avLst/>
          </a:prstGeom>
          <a:solidFill>
            <a:schemeClr val="accent1"/>
          </a:solidFill>
          <a:ln w="12700">
            <a:solidFill>
              <a:schemeClr val="accent1"/>
            </a:solidFill>
            <a:prstDash val="solid"/>
          </a:ln>
        </p:spPr>
      </p:sp>
      <p:pic>
        <p:nvPicPr>
          <p:cNvPr id="20" name="Context icon 1" descr="Context icon 1">    </p:cNvPr>
          <p:cNvPicPr>
            <a:picLocks noChangeAspect="1"/>
          </p:cNvPicPr>
          <p:nvPr/>
        </p:nvPicPr>
        <p:blipFill>
          <a:blip r:embed="rId1"/>
          <a:stretch>
            <a:fillRect/>
          </a:stretch>
        </p:blipFill>
        <p:spPr>
          <a:xfrm>
            <a:off x="7578090" y="2868930"/>
            <a:ext cx="251460" cy="251460"/>
          </a:xfrm>
          <a:prstGeom prst="rect">
            <a:avLst/>
          </a:prstGeom>
        </p:spPr>
      </p:pic>
      <p:sp>
        <p:nvSpPr>
          <p:cNvPr id="21" name="Text 17"/>
          <p:cNvSpPr txBox="1"/>
          <p:nvPr/>
        </p:nvSpPr>
        <p:spPr>
          <a:xfrm>
            <a:off x="8138160" y="2697480"/>
            <a:ext cx="3291840" cy="594360"/>
          </a:xfrm>
          <a:prstGeom prst="rect">
            <a:avLst/>
          </a:prstGeom>
          <a:noFill/>
          <a:ln/>
        </p:spPr>
        <p:txBody>
          <a:bodyPr wrap="square" lIns="0" tIns="0" rIns="0" bIns="0" rtlCol="0" anchor="ctr"/>
          <a:lstStyle/>
          <a:p>
            <a:pPr indent="0" marL="0">
              <a:buNone/>
            </a:pPr>
            <a:r>
              <a:rPr lang="en-US" sz="1500" dirty="0">
                <a:solidFill>
                  <a:schemeClr val="bg1"/>
                </a:solidFill>
              </a:rPr>
              <a:t>15 cities across South, West, North and East India</a:t>
            </a:r>
            <a:endParaRPr lang="en-US" sz="1500" dirty="0"/>
          </a:p>
        </p:txBody>
      </p:sp>
      <p:sp>
        <p:nvSpPr>
          <p:cNvPr id="22" name="Context icon 2 circle"/>
          <p:cNvSpPr/>
          <p:nvPr/>
        </p:nvSpPr>
        <p:spPr>
          <a:xfrm>
            <a:off x="7452360" y="3520440"/>
            <a:ext cx="502920" cy="502920"/>
          </a:xfrm>
          <a:prstGeom prst="ellipse">
            <a:avLst/>
          </a:prstGeom>
          <a:solidFill>
            <a:schemeClr val="accent1"/>
          </a:solidFill>
          <a:ln w="12700">
            <a:solidFill>
              <a:schemeClr val="accent1"/>
            </a:solidFill>
            <a:prstDash val="solid"/>
          </a:ln>
        </p:spPr>
      </p:sp>
      <p:pic>
        <p:nvPicPr>
          <p:cNvPr id="23" name="Context icon 2" descr="Context icon 2">    </p:cNvPr>
          <p:cNvPicPr>
            <a:picLocks noChangeAspect="1"/>
          </p:cNvPicPr>
          <p:nvPr/>
        </p:nvPicPr>
        <p:blipFill>
          <a:blip r:embed="rId2"/>
          <a:stretch>
            <a:fillRect/>
          </a:stretch>
        </p:blipFill>
        <p:spPr>
          <a:xfrm>
            <a:off x="7578090" y="3646170"/>
            <a:ext cx="251460" cy="251460"/>
          </a:xfrm>
          <a:prstGeom prst="rect">
            <a:avLst/>
          </a:prstGeom>
        </p:spPr>
      </p:pic>
      <p:sp>
        <p:nvSpPr>
          <p:cNvPr id="24" name="Text 19"/>
          <p:cNvSpPr txBox="1"/>
          <p:nvPr/>
        </p:nvSpPr>
        <p:spPr>
          <a:xfrm>
            <a:off x="8138160" y="3474720"/>
            <a:ext cx="3291840" cy="594360"/>
          </a:xfrm>
          <a:prstGeom prst="rect">
            <a:avLst/>
          </a:prstGeom>
          <a:noFill/>
          <a:ln/>
        </p:spPr>
        <p:txBody>
          <a:bodyPr wrap="square" lIns="0" tIns="0" rIns="0" bIns="0" rtlCol="0" anchor="ctr"/>
          <a:lstStyle/>
          <a:p>
            <a:pPr indent="0" marL="0">
              <a:buNone/>
            </a:pPr>
            <a:r>
              <a:rPr lang="en-US" sz="1500" dirty="0">
                <a:solidFill>
                  <a:schemeClr val="bg1"/>
                </a:solidFill>
              </a:rPr>
              <a:t>Rice-based, roti-based and mixed diets, with festival-meal surges</a:t>
            </a:r>
            <a:endParaRPr lang="en-US" sz="1500" dirty="0"/>
          </a:p>
        </p:txBody>
      </p:sp>
      <p:sp>
        <p:nvSpPr>
          <p:cNvPr id="25" name="Context icon 3 circle"/>
          <p:cNvSpPr/>
          <p:nvPr/>
        </p:nvSpPr>
        <p:spPr>
          <a:xfrm>
            <a:off x="7452360" y="4297680"/>
            <a:ext cx="502920" cy="502920"/>
          </a:xfrm>
          <a:prstGeom prst="ellipse">
            <a:avLst/>
          </a:prstGeom>
          <a:solidFill>
            <a:schemeClr val="accent1"/>
          </a:solidFill>
          <a:ln w="12700">
            <a:solidFill>
              <a:schemeClr val="accent1"/>
            </a:solidFill>
            <a:prstDash val="solid"/>
          </a:ln>
        </p:spPr>
      </p:sp>
      <p:pic>
        <p:nvPicPr>
          <p:cNvPr id="26" name="Context icon 3" descr="Context icon 3">    </p:cNvPr>
          <p:cNvPicPr>
            <a:picLocks noChangeAspect="1"/>
          </p:cNvPicPr>
          <p:nvPr/>
        </p:nvPicPr>
        <p:blipFill>
          <a:blip r:embed="rId3"/>
          <a:stretch>
            <a:fillRect/>
          </a:stretch>
        </p:blipFill>
        <p:spPr>
          <a:xfrm>
            <a:off x="7578090" y="4423410"/>
            <a:ext cx="251460" cy="251460"/>
          </a:xfrm>
          <a:prstGeom prst="rect">
            <a:avLst/>
          </a:prstGeom>
        </p:spPr>
      </p:pic>
      <p:sp>
        <p:nvSpPr>
          <p:cNvPr id="27" name="Text 21"/>
          <p:cNvSpPr txBox="1"/>
          <p:nvPr/>
        </p:nvSpPr>
        <p:spPr>
          <a:xfrm>
            <a:off x="8138160" y="4251960"/>
            <a:ext cx="3291840" cy="594360"/>
          </a:xfrm>
          <a:prstGeom prst="rect">
            <a:avLst/>
          </a:prstGeom>
          <a:noFill/>
          <a:ln/>
        </p:spPr>
        <p:txBody>
          <a:bodyPr wrap="square" lIns="0" tIns="0" rIns="0" bIns="0" rtlCol="0" anchor="ctr"/>
          <a:lstStyle/>
          <a:p>
            <a:pPr indent="0" marL="0">
              <a:buNone/>
            </a:pPr>
            <a:r>
              <a:rPr lang="en-US" sz="1500" dirty="0">
                <a:solidFill>
                  <a:schemeClr val="bg1"/>
                </a:solidFill>
              </a:rPr>
              <a:t>Early-onset phenotype and high family-history burden</a:t>
            </a:r>
            <a:endParaRPr lang="en-US" sz="1500" dirty="0"/>
          </a:p>
        </p:txBody>
      </p:sp>
      <p:sp>
        <p:nvSpPr>
          <p:cNvPr id="28" name="Context icon 4 circle"/>
          <p:cNvSpPr/>
          <p:nvPr/>
        </p:nvSpPr>
        <p:spPr>
          <a:xfrm>
            <a:off x="7452360" y="5074920"/>
            <a:ext cx="502920" cy="502920"/>
          </a:xfrm>
          <a:prstGeom prst="ellipse">
            <a:avLst/>
          </a:prstGeom>
          <a:solidFill>
            <a:schemeClr val="accent1"/>
          </a:solidFill>
          <a:ln w="12700">
            <a:solidFill>
              <a:schemeClr val="accent1"/>
            </a:solidFill>
            <a:prstDash val="solid"/>
          </a:ln>
        </p:spPr>
      </p:sp>
      <p:pic>
        <p:nvPicPr>
          <p:cNvPr id="29" name="Context icon 4" descr="Context icon 4">    </p:cNvPr>
          <p:cNvPicPr>
            <a:picLocks noChangeAspect="1"/>
          </p:cNvPicPr>
          <p:nvPr/>
        </p:nvPicPr>
        <p:blipFill>
          <a:blip r:embed="rId4"/>
          <a:stretch>
            <a:fillRect/>
          </a:stretch>
        </p:blipFill>
        <p:spPr>
          <a:xfrm>
            <a:off x="7578090" y="5200650"/>
            <a:ext cx="251460" cy="251460"/>
          </a:xfrm>
          <a:prstGeom prst="rect">
            <a:avLst/>
          </a:prstGeom>
        </p:spPr>
      </p:pic>
      <p:sp>
        <p:nvSpPr>
          <p:cNvPr id="30" name="Text 23"/>
          <p:cNvSpPr txBox="1"/>
          <p:nvPr/>
        </p:nvSpPr>
        <p:spPr>
          <a:xfrm>
            <a:off x="8138160" y="5029200"/>
            <a:ext cx="3291840" cy="594360"/>
          </a:xfrm>
          <a:prstGeom prst="rect">
            <a:avLst/>
          </a:prstGeom>
          <a:noFill/>
          <a:ln/>
        </p:spPr>
        <p:txBody>
          <a:bodyPr wrap="square" lIns="0" tIns="0" rIns="0" bIns="0" rtlCol="0" anchor="ctr"/>
          <a:lstStyle/>
          <a:p>
            <a:pPr indent="0" marL="0">
              <a:buNone/>
            </a:pPr>
            <a:r>
              <a:rPr lang="en-US" sz="1500" dirty="0">
                <a:solidFill>
                  <a:schemeClr val="bg1"/>
                </a:solidFill>
              </a:rPr>
              <a:t>Sedentary, light and active lifestyles</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Two Fused Data Streams</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Synthetic, anonymised, and shaped like Indian patients</a:t>
            </a:r>
            <a:endParaRPr lang="en-US" sz="1800" dirty="0"/>
          </a:p>
        </p:txBody>
      </p:sp>
      <p:sp>
        <p:nvSpPr>
          <p:cNvPr id="5" name="Stream card 1"/>
          <p:cNvSpPr/>
          <p:nvPr/>
        </p:nvSpPr>
        <p:spPr>
          <a:xfrm>
            <a:off x="548640" y="1828800"/>
            <a:ext cx="5029200" cy="2926080"/>
          </a:xfrm>
          <a:prstGeom prst="roundRect">
            <a:avLst>
              <a:gd name="adj" fmla="val 3750"/>
            </a:avLst>
          </a:prstGeom>
          <a:solidFill>
            <a:schemeClr val="bg2"/>
          </a:solidFill>
          <a:ln w="12700">
            <a:solidFill>
              <a:schemeClr val="bg2"/>
            </a:solidFill>
            <a:prstDash val="solid"/>
          </a:ln>
        </p:spPr>
      </p:sp>
      <p:sp>
        <p:nvSpPr>
          <p:cNvPr id="6" name="Static EHR icon circle"/>
          <p:cNvSpPr/>
          <p:nvPr/>
        </p:nvSpPr>
        <p:spPr>
          <a:xfrm>
            <a:off x="868680" y="2103120"/>
            <a:ext cx="640080" cy="640080"/>
          </a:xfrm>
          <a:prstGeom prst="ellipse">
            <a:avLst/>
          </a:prstGeom>
          <a:solidFill>
            <a:schemeClr val="accent1"/>
          </a:solidFill>
          <a:ln w="12700">
            <a:solidFill>
              <a:schemeClr val="accent1"/>
            </a:solidFill>
            <a:prstDash val="solid"/>
          </a:ln>
        </p:spPr>
      </p:sp>
      <p:pic>
        <p:nvPicPr>
          <p:cNvPr id="7" name="Static EHR icon" descr="Static EHR icon">    </p:cNvPr>
          <p:cNvPicPr>
            <a:picLocks noChangeAspect="1"/>
          </p:cNvPicPr>
          <p:nvPr/>
        </p:nvPicPr>
        <p:blipFill>
          <a:blip r:embed="rId1"/>
          <a:stretch>
            <a:fillRect/>
          </a:stretch>
        </p:blipFill>
        <p:spPr>
          <a:xfrm>
            <a:off x="1028700" y="2263140"/>
            <a:ext cx="320040" cy="320040"/>
          </a:xfrm>
          <a:prstGeom prst="rect">
            <a:avLst/>
          </a:prstGeom>
        </p:spPr>
      </p:pic>
      <p:sp>
        <p:nvSpPr>
          <p:cNvPr id="8" name="Text 4"/>
          <p:cNvSpPr txBox="1"/>
          <p:nvPr/>
        </p:nvSpPr>
        <p:spPr>
          <a:xfrm>
            <a:off x="1645920" y="2103120"/>
            <a:ext cx="3657600" cy="6400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Static EHR</a:t>
            </a:r>
            <a:endParaRPr lang="en-US" sz="2400" dirty="0"/>
          </a:p>
        </p:txBody>
      </p:sp>
      <p:sp>
        <p:nvSpPr>
          <p:cNvPr id="9" name="Text 5"/>
          <p:cNvSpPr txBox="1"/>
          <p:nvPr/>
        </p:nvSpPr>
        <p:spPr>
          <a:xfrm>
            <a:off x="914400" y="2926080"/>
            <a:ext cx="438912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Age, sex, city and state</a:t>
            </a:r>
            <a:endParaRPr lang="en-US" sz="1600" dirty="0"/>
          </a:p>
          <a:p>
            <a:pPr marL="342900" indent="-342900">
              <a:spcAft>
                <a:spcPts val="600"/>
              </a:spcAft>
              <a:buSzPct val="100000"/>
              <a:buChar char="•"/>
            </a:pPr>
            <a:r>
              <a:rPr lang="en-US" sz="1600" dirty="0">
                <a:solidFill>
                  <a:schemeClr val="tx1"/>
                </a:solidFill>
              </a:rPr>
              <a:t>BMI, HbA1c, baseline blood pressure</a:t>
            </a:r>
            <a:endParaRPr lang="en-US" sz="1600" dirty="0"/>
          </a:p>
          <a:p>
            <a:pPr marL="342900" indent="-342900">
              <a:spcAft>
                <a:spcPts val="600"/>
              </a:spcAft>
              <a:buSzPct val="100000"/>
              <a:buChar char="•"/>
            </a:pPr>
            <a:r>
              <a:rPr lang="en-US" sz="1600" dirty="0">
                <a:solidFill>
                  <a:schemeClr val="tx1"/>
                </a:solidFill>
              </a:rPr>
              <a:t>Family history and past diagnoses</a:t>
            </a:r>
            <a:endParaRPr lang="en-US" sz="1600" dirty="0"/>
          </a:p>
          <a:p>
            <a:pPr marL="342900" indent="-342900">
              <a:spcAft>
                <a:spcPts val="600"/>
              </a:spcAft>
              <a:buSzPct val="100000"/>
              <a:buChar char="•"/>
            </a:pPr>
            <a:r>
              <a:rPr lang="en-US" sz="1600" dirty="0">
                <a:solidFill>
                  <a:schemeClr val="tx1"/>
                </a:solidFill>
              </a:rPr>
              <a:t>Medication, diet pattern, activity level</a:t>
            </a:r>
            <a:endParaRPr lang="en-US" sz="1600" dirty="0"/>
          </a:p>
        </p:txBody>
      </p:sp>
      <p:sp>
        <p:nvSpPr>
          <p:cNvPr id="10" name="Stream card 2"/>
          <p:cNvSpPr/>
          <p:nvPr/>
        </p:nvSpPr>
        <p:spPr>
          <a:xfrm>
            <a:off x="6611112" y="1828800"/>
            <a:ext cx="5029200" cy="2926080"/>
          </a:xfrm>
          <a:prstGeom prst="roundRect">
            <a:avLst>
              <a:gd name="adj" fmla="val 3750"/>
            </a:avLst>
          </a:prstGeom>
          <a:solidFill>
            <a:schemeClr val="bg2"/>
          </a:solidFill>
          <a:ln w="12700">
            <a:solidFill>
              <a:schemeClr val="bg2"/>
            </a:solidFill>
            <a:prstDash val="solid"/>
          </a:ln>
        </p:spPr>
      </p:sp>
      <p:sp>
        <p:nvSpPr>
          <p:cNvPr id="11" name="Dynamic wearable data icon circle"/>
          <p:cNvSpPr/>
          <p:nvPr/>
        </p:nvSpPr>
        <p:spPr>
          <a:xfrm>
            <a:off x="6931152" y="2103120"/>
            <a:ext cx="640080" cy="640080"/>
          </a:xfrm>
          <a:prstGeom prst="ellipse">
            <a:avLst/>
          </a:prstGeom>
          <a:solidFill>
            <a:schemeClr val="accent1"/>
          </a:solidFill>
          <a:ln w="12700">
            <a:solidFill>
              <a:schemeClr val="accent1"/>
            </a:solidFill>
            <a:prstDash val="solid"/>
          </a:ln>
        </p:spPr>
      </p:sp>
      <p:pic>
        <p:nvPicPr>
          <p:cNvPr id="12" name="Dynamic wearable data icon" descr="Dynamic wearable data icon">    </p:cNvPr>
          <p:cNvPicPr>
            <a:picLocks noChangeAspect="1"/>
          </p:cNvPicPr>
          <p:nvPr/>
        </p:nvPicPr>
        <p:blipFill>
          <a:blip r:embed="rId2"/>
          <a:stretch>
            <a:fillRect/>
          </a:stretch>
        </p:blipFill>
        <p:spPr>
          <a:xfrm>
            <a:off x="7091172" y="2263140"/>
            <a:ext cx="320040" cy="320040"/>
          </a:xfrm>
          <a:prstGeom prst="rect">
            <a:avLst/>
          </a:prstGeom>
        </p:spPr>
      </p:pic>
      <p:sp>
        <p:nvSpPr>
          <p:cNvPr id="13" name="Text 8"/>
          <p:cNvSpPr txBox="1"/>
          <p:nvPr/>
        </p:nvSpPr>
        <p:spPr>
          <a:xfrm>
            <a:off x="7708392" y="2103120"/>
            <a:ext cx="3657600" cy="6400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Dynamic wearable data</a:t>
            </a:r>
            <a:endParaRPr lang="en-US" sz="2400" dirty="0"/>
          </a:p>
        </p:txBody>
      </p:sp>
      <p:sp>
        <p:nvSpPr>
          <p:cNvPr id="14" name="Text 9"/>
          <p:cNvSpPr txBox="1"/>
          <p:nvPr/>
        </p:nvSpPr>
        <p:spPr>
          <a:xfrm>
            <a:off x="6976872" y="2926080"/>
            <a:ext cx="438912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CGM glucose every 15 minutes</a:t>
            </a:r>
            <a:endParaRPr lang="en-US" sz="1600" dirty="0"/>
          </a:p>
          <a:p>
            <a:pPr marL="342900" indent="-342900">
              <a:spcAft>
                <a:spcPts val="600"/>
              </a:spcAft>
              <a:buSzPct val="100000"/>
              <a:buChar char="•"/>
            </a:pPr>
            <a:r>
              <a:rPr lang="en-US" sz="1600" dirty="0">
                <a:solidFill>
                  <a:schemeClr val="tx1"/>
                </a:solidFill>
              </a:rPr>
              <a:t>Heart rate and step count</a:t>
            </a:r>
            <a:endParaRPr lang="en-US" sz="1600" dirty="0"/>
          </a:p>
          <a:p>
            <a:pPr marL="342900" indent="-342900">
              <a:spcAft>
                <a:spcPts val="600"/>
              </a:spcAft>
              <a:buSzPct val="100000"/>
              <a:buChar char="•"/>
            </a:pPr>
            <a:r>
              <a:rPr lang="en-US" sz="1600" dirty="0">
                <a:solidFill>
                  <a:schemeClr val="tx1"/>
                </a:solidFill>
              </a:rPr>
              <a:t>Sleep quality index (0 to 100)</a:t>
            </a:r>
            <a:endParaRPr lang="en-US" sz="1600" dirty="0"/>
          </a:p>
          <a:p>
            <a:pPr marL="342900" indent="-342900">
              <a:spcAft>
                <a:spcPts val="600"/>
              </a:spcAft>
              <a:buSzPct val="100000"/>
              <a:buChar char="•"/>
            </a:pPr>
            <a:r>
              <a:rPr lang="en-US" sz="1600" dirty="0">
                <a:solidFill>
                  <a:schemeClr val="tx1"/>
                </a:solidFill>
              </a:rPr>
              <a:t>Meal log with carbohydrate grams</a:t>
            </a:r>
            <a:endParaRPr lang="en-US" sz="1600" dirty="0"/>
          </a:p>
        </p:txBody>
      </p:sp>
      <p:sp>
        <p:nvSpPr>
          <p:cNvPr id="15" name="Plus circle"/>
          <p:cNvSpPr/>
          <p:nvPr/>
        </p:nvSpPr>
        <p:spPr>
          <a:xfrm>
            <a:off x="5779008" y="2971800"/>
            <a:ext cx="640080" cy="640080"/>
          </a:xfrm>
          <a:prstGeom prst="ellipse">
            <a:avLst/>
          </a:prstGeom>
          <a:solidFill>
            <a:schemeClr val="accent2"/>
          </a:solidFill>
          <a:ln w="12700">
            <a:solidFill>
              <a:schemeClr val="accent2"/>
            </a:solidFill>
            <a:prstDash val="solid"/>
          </a:ln>
        </p:spPr>
      </p:sp>
      <p:sp>
        <p:nvSpPr>
          <p:cNvPr id="16" name="Text 11"/>
          <p:cNvSpPr txBox="1"/>
          <p:nvPr/>
        </p:nvSpPr>
        <p:spPr>
          <a:xfrm>
            <a:off x="5779008" y="2971800"/>
            <a:ext cx="640080" cy="640080"/>
          </a:xfrm>
          <a:prstGeom prst="rect">
            <a:avLst/>
          </a:prstGeom>
          <a:noFill/>
          <a:ln/>
        </p:spPr>
        <p:txBody>
          <a:bodyPr wrap="square" lIns="0" tIns="0" rIns="0" bIns="0" rtlCol="0" anchor="ctr"/>
          <a:lstStyle/>
          <a:p>
            <a:pPr algn="ctr" indent="0" marL="0">
              <a:buNone/>
            </a:pPr>
            <a:r>
              <a:rPr lang="en-US" sz="3200" b="1" dirty="0">
                <a:solidFill>
                  <a:schemeClr val="bg1"/>
                </a:solidFill>
              </a:rPr>
              <a:t>+</a:t>
            </a:r>
            <a:endParaRPr lang="en-US" sz="3200" dirty="0"/>
          </a:p>
        </p:txBody>
      </p:sp>
      <p:sp>
        <p:nvSpPr>
          <p:cNvPr id="17" name="Data stat 1"/>
          <p:cNvSpPr/>
          <p:nvPr/>
        </p:nvSpPr>
        <p:spPr>
          <a:xfrm>
            <a:off x="548640" y="5029200"/>
            <a:ext cx="2606040" cy="1097280"/>
          </a:xfrm>
          <a:prstGeom prst="roundRect">
            <a:avLst>
              <a:gd name="adj" fmla="val 10000"/>
            </a:avLst>
          </a:prstGeom>
          <a:solidFill>
            <a:schemeClr val="tx2"/>
          </a:solidFill>
          <a:ln w="12700">
            <a:solidFill>
              <a:schemeClr val="tx2"/>
            </a:solidFill>
            <a:prstDash val="solid"/>
          </a:ln>
        </p:spPr>
      </p:sp>
      <p:sp>
        <p:nvSpPr>
          <p:cNvPr id="18" name="Text 13"/>
          <p:cNvSpPr txBox="1"/>
          <p:nvPr/>
        </p:nvSpPr>
        <p:spPr>
          <a:xfrm>
            <a:off x="777240" y="5102352"/>
            <a:ext cx="2194560" cy="594360"/>
          </a:xfrm>
          <a:prstGeom prst="rect">
            <a:avLst/>
          </a:prstGeom>
          <a:noFill/>
          <a:ln/>
        </p:spPr>
        <p:txBody>
          <a:bodyPr wrap="square" lIns="0" tIns="0" rIns="0" bIns="0" rtlCol="0" anchor="ctr"/>
          <a:lstStyle/>
          <a:p>
            <a:pPr indent="0" marL="0">
              <a:buNone/>
            </a:pPr>
            <a:r>
              <a:rPr lang="en-US" sz="3200" b="1" dirty="0">
                <a:solidFill>
                  <a:srgbClr val="8FD3D9"/>
                </a:solidFill>
                <a:latin typeface="Cambria" pitchFamily="34" charset="0"/>
                <a:ea typeface="Cambria" pitchFamily="34" charset="-122"/>
                <a:cs typeface="Cambria" pitchFamily="34" charset="-120"/>
              </a:rPr>
              <a:t>100</a:t>
            </a:r>
            <a:endParaRPr lang="en-US" sz="3200" dirty="0"/>
          </a:p>
        </p:txBody>
      </p:sp>
      <p:sp>
        <p:nvSpPr>
          <p:cNvPr id="19" name="Text 14"/>
          <p:cNvSpPr txBox="1"/>
          <p:nvPr/>
        </p:nvSpPr>
        <p:spPr>
          <a:xfrm>
            <a:off x="777240" y="5687568"/>
            <a:ext cx="2194560" cy="320040"/>
          </a:xfrm>
          <a:prstGeom prst="rect">
            <a:avLst/>
          </a:prstGeom>
          <a:noFill/>
          <a:ln/>
        </p:spPr>
        <p:txBody>
          <a:bodyPr wrap="square" lIns="0" tIns="0" rIns="0" bIns="0" rtlCol="0" anchor="t"/>
          <a:lstStyle/>
          <a:p>
            <a:pPr indent="0" marL="0">
              <a:buNone/>
            </a:pPr>
            <a:r>
              <a:rPr lang="en-US" sz="1400" dirty="0">
                <a:solidFill>
                  <a:schemeClr val="bg1"/>
                </a:solidFill>
              </a:rPr>
              <a:t>synthetic patients</a:t>
            </a:r>
            <a:endParaRPr lang="en-US" sz="1400" dirty="0"/>
          </a:p>
        </p:txBody>
      </p:sp>
      <p:sp>
        <p:nvSpPr>
          <p:cNvPr id="20" name="Data stat 2"/>
          <p:cNvSpPr/>
          <p:nvPr/>
        </p:nvSpPr>
        <p:spPr>
          <a:xfrm>
            <a:off x="3376879" y="5029200"/>
            <a:ext cx="2606040" cy="1097280"/>
          </a:xfrm>
          <a:prstGeom prst="roundRect">
            <a:avLst>
              <a:gd name="adj" fmla="val 10000"/>
            </a:avLst>
          </a:prstGeom>
          <a:solidFill>
            <a:schemeClr val="tx2"/>
          </a:solidFill>
          <a:ln w="12700">
            <a:solidFill>
              <a:schemeClr val="tx2"/>
            </a:solidFill>
            <a:prstDash val="solid"/>
          </a:ln>
        </p:spPr>
      </p:sp>
      <p:sp>
        <p:nvSpPr>
          <p:cNvPr id="21" name="Text 16"/>
          <p:cNvSpPr txBox="1"/>
          <p:nvPr/>
        </p:nvSpPr>
        <p:spPr>
          <a:xfrm>
            <a:off x="3605479" y="5102352"/>
            <a:ext cx="2194560" cy="594360"/>
          </a:xfrm>
          <a:prstGeom prst="rect">
            <a:avLst/>
          </a:prstGeom>
          <a:noFill/>
          <a:ln/>
        </p:spPr>
        <p:txBody>
          <a:bodyPr wrap="square" lIns="0" tIns="0" rIns="0" bIns="0" rtlCol="0" anchor="ctr"/>
          <a:lstStyle/>
          <a:p>
            <a:pPr indent="0" marL="0">
              <a:buNone/>
            </a:pPr>
            <a:r>
              <a:rPr lang="en-US" sz="3200" b="1" dirty="0">
                <a:solidFill>
                  <a:srgbClr val="8FD3D9"/>
                </a:solidFill>
                <a:latin typeface="Cambria" pitchFamily="34" charset="0"/>
                <a:ea typeface="Cambria" pitchFamily="34" charset="-122"/>
                <a:cs typeface="Cambria" pitchFamily="34" charset="-120"/>
              </a:rPr>
              <a:t>67,200</a:t>
            </a:r>
            <a:endParaRPr lang="en-US" sz="3200" dirty="0"/>
          </a:p>
        </p:txBody>
      </p:sp>
      <p:sp>
        <p:nvSpPr>
          <p:cNvPr id="22" name="Text 17"/>
          <p:cNvSpPr txBox="1"/>
          <p:nvPr/>
        </p:nvSpPr>
        <p:spPr>
          <a:xfrm>
            <a:off x="3605479" y="5687568"/>
            <a:ext cx="2194560" cy="320040"/>
          </a:xfrm>
          <a:prstGeom prst="rect">
            <a:avLst/>
          </a:prstGeom>
          <a:noFill/>
          <a:ln/>
        </p:spPr>
        <p:txBody>
          <a:bodyPr wrap="square" lIns="0" tIns="0" rIns="0" bIns="0" rtlCol="0" anchor="t"/>
          <a:lstStyle/>
          <a:p>
            <a:pPr indent="0" marL="0">
              <a:buNone/>
            </a:pPr>
            <a:r>
              <a:rPr lang="en-US" sz="1400" dirty="0">
                <a:solidFill>
                  <a:schemeClr val="bg1"/>
                </a:solidFill>
              </a:rPr>
              <a:t>wearable readings</a:t>
            </a:r>
            <a:endParaRPr lang="en-US" sz="1400" dirty="0"/>
          </a:p>
        </p:txBody>
      </p:sp>
      <p:sp>
        <p:nvSpPr>
          <p:cNvPr id="23" name="Data stat 3"/>
          <p:cNvSpPr/>
          <p:nvPr/>
        </p:nvSpPr>
        <p:spPr>
          <a:xfrm>
            <a:off x="6205118" y="5029200"/>
            <a:ext cx="2606040" cy="1097280"/>
          </a:xfrm>
          <a:prstGeom prst="roundRect">
            <a:avLst>
              <a:gd name="adj" fmla="val 10000"/>
            </a:avLst>
          </a:prstGeom>
          <a:solidFill>
            <a:schemeClr val="tx2"/>
          </a:solidFill>
          <a:ln w="12700">
            <a:solidFill>
              <a:schemeClr val="tx2"/>
            </a:solidFill>
            <a:prstDash val="solid"/>
          </a:ln>
        </p:spPr>
      </p:sp>
      <p:sp>
        <p:nvSpPr>
          <p:cNvPr id="24" name="Text 19"/>
          <p:cNvSpPr txBox="1"/>
          <p:nvPr/>
        </p:nvSpPr>
        <p:spPr>
          <a:xfrm>
            <a:off x="6433718" y="5102352"/>
            <a:ext cx="2194560" cy="594360"/>
          </a:xfrm>
          <a:prstGeom prst="rect">
            <a:avLst/>
          </a:prstGeom>
          <a:noFill/>
          <a:ln/>
        </p:spPr>
        <p:txBody>
          <a:bodyPr wrap="square" lIns="0" tIns="0" rIns="0" bIns="0" rtlCol="0" anchor="ctr"/>
          <a:lstStyle/>
          <a:p>
            <a:pPr indent="0" marL="0">
              <a:buNone/>
            </a:pPr>
            <a:r>
              <a:rPr lang="en-US" sz="3200" b="1" dirty="0">
                <a:solidFill>
                  <a:srgbClr val="8FD3D9"/>
                </a:solidFill>
                <a:latin typeface="Cambria" pitchFamily="34" charset="0"/>
                <a:ea typeface="Cambria" pitchFamily="34" charset="-122"/>
                <a:cs typeface="Cambria" pitchFamily="34" charset="-120"/>
              </a:rPr>
              <a:t>7 days</a:t>
            </a:r>
            <a:endParaRPr lang="en-US" sz="3200" dirty="0"/>
          </a:p>
        </p:txBody>
      </p:sp>
      <p:sp>
        <p:nvSpPr>
          <p:cNvPr id="25" name="Text 20"/>
          <p:cNvSpPr txBox="1"/>
          <p:nvPr/>
        </p:nvSpPr>
        <p:spPr>
          <a:xfrm>
            <a:off x="6433718" y="5687568"/>
            <a:ext cx="2194560" cy="320040"/>
          </a:xfrm>
          <a:prstGeom prst="rect">
            <a:avLst/>
          </a:prstGeom>
          <a:noFill/>
          <a:ln/>
        </p:spPr>
        <p:txBody>
          <a:bodyPr wrap="square" lIns="0" tIns="0" rIns="0" bIns="0" rtlCol="0" anchor="t"/>
          <a:lstStyle/>
          <a:p>
            <a:pPr indent="0" marL="0">
              <a:buNone/>
            </a:pPr>
            <a:r>
              <a:rPr lang="en-US" sz="1400" dirty="0">
                <a:solidFill>
                  <a:schemeClr val="bg1"/>
                </a:solidFill>
              </a:rPr>
              <a:t>at 15-minute resolution</a:t>
            </a:r>
            <a:endParaRPr lang="en-US" sz="1400" dirty="0"/>
          </a:p>
        </p:txBody>
      </p:sp>
      <p:sp>
        <p:nvSpPr>
          <p:cNvPr id="26" name="Data stat 4"/>
          <p:cNvSpPr/>
          <p:nvPr/>
        </p:nvSpPr>
        <p:spPr>
          <a:xfrm>
            <a:off x="9033358" y="5029200"/>
            <a:ext cx="2606040" cy="1097280"/>
          </a:xfrm>
          <a:prstGeom prst="roundRect">
            <a:avLst>
              <a:gd name="adj" fmla="val 10000"/>
            </a:avLst>
          </a:prstGeom>
          <a:solidFill>
            <a:schemeClr val="tx2"/>
          </a:solidFill>
          <a:ln w="12700">
            <a:solidFill>
              <a:schemeClr val="tx2"/>
            </a:solidFill>
            <a:prstDash val="solid"/>
          </a:ln>
        </p:spPr>
      </p:sp>
      <p:sp>
        <p:nvSpPr>
          <p:cNvPr id="27" name="Text 22"/>
          <p:cNvSpPr txBox="1"/>
          <p:nvPr/>
        </p:nvSpPr>
        <p:spPr>
          <a:xfrm>
            <a:off x="9261958" y="5102352"/>
            <a:ext cx="2194560" cy="594360"/>
          </a:xfrm>
          <a:prstGeom prst="rect">
            <a:avLst/>
          </a:prstGeom>
          <a:noFill/>
          <a:ln/>
        </p:spPr>
        <p:txBody>
          <a:bodyPr wrap="square" lIns="0" tIns="0" rIns="0" bIns="0" rtlCol="0" anchor="ctr"/>
          <a:lstStyle/>
          <a:p>
            <a:pPr indent="0" marL="0">
              <a:buNone/>
            </a:pPr>
            <a:r>
              <a:rPr lang="en-US" sz="3200" b="1" dirty="0">
                <a:solidFill>
                  <a:srgbClr val="8FD3D9"/>
                </a:solidFill>
                <a:latin typeface="Cambria" pitchFamily="34" charset="0"/>
                <a:ea typeface="Cambria" pitchFamily="34" charset="-122"/>
                <a:cs typeface="Cambria" pitchFamily="34" charset="-120"/>
              </a:rPr>
              <a:t>15</a:t>
            </a:r>
            <a:endParaRPr lang="en-US" sz="3200" dirty="0"/>
          </a:p>
        </p:txBody>
      </p:sp>
      <p:sp>
        <p:nvSpPr>
          <p:cNvPr id="28" name="Text 23"/>
          <p:cNvSpPr txBox="1"/>
          <p:nvPr/>
        </p:nvSpPr>
        <p:spPr>
          <a:xfrm>
            <a:off x="9261958" y="5687568"/>
            <a:ext cx="2194560" cy="320040"/>
          </a:xfrm>
          <a:prstGeom prst="rect">
            <a:avLst/>
          </a:prstGeom>
          <a:noFill/>
          <a:ln/>
        </p:spPr>
        <p:txBody>
          <a:bodyPr wrap="square" lIns="0" tIns="0" rIns="0" bIns="0" rtlCol="0" anchor="t"/>
          <a:lstStyle/>
          <a:p>
            <a:pPr indent="0" marL="0">
              <a:buNone/>
            </a:pPr>
            <a:r>
              <a:rPr lang="en-US" sz="1400" dirty="0">
                <a:solidFill>
                  <a:schemeClr val="bg1"/>
                </a:solidFill>
              </a:rPr>
              <a:t>Indian cities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From raw data to a doctor-ready decision, in four steps</a:t>
            </a:r>
            <a:endParaRPr lang="en-US" sz="1800" dirty="0"/>
          </a:p>
        </p:txBody>
      </p:sp>
      <p:sp>
        <p:nvSpPr>
          <p:cNvPr id="5" name="Arch column 1"/>
          <p:cNvSpPr/>
          <p:nvPr/>
        </p:nvSpPr>
        <p:spPr>
          <a:xfrm>
            <a:off x="548640" y="1874520"/>
            <a:ext cx="2340864" cy="3246120"/>
          </a:xfrm>
          <a:prstGeom prst="roundRect">
            <a:avLst>
              <a:gd name="adj" fmla="val 4688"/>
            </a:avLst>
          </a:prstGeom>
          <a:solidFill>
            <a:schemeClr val="bg2"/>
          </a:solidFill>
          <a:ln w="12700">
            <a:solidFill>
              <a:schemeClr val="bg2"/>
            </a:solidFill>
            <a:prstDash val="solid"/>
          </a:ln>
        </p:spPr>
      </p:sp>
      <p:sp>
        <p:nvSpPr>
          <p:cNvPr id="6" name="1  Data icon circle"/>
          <p:cNvSpPr/>
          <p:nvPr/>
        </p:nvSpPr>
        <p:spPr>
          <a:xfrm>
            <a:off x="777240" y="2103120"/>
            <a:ext cx="548640" cy="548640"/>
          </a:xfrm>
          <a:prstGeom prst="ellipse">
            <a:avLst/>
          </a:prstGeom>
          <a:solidFill>
            <a:schemeClr val="accent1"/>
          </a:solidFill>
          <a:ln w="12700">
            <a:solidFill>
              <a:schemeClr val="accent1"/>
            </a:solidFill>
            <a:prstDash val="solid"/>
          </a:ln>
        </p:spPr>
      </p:sp>
      <p:pic>
        <p:nvPicPr>
          <p:cNvPr id="7" name="1  Data icon" descr="1  Data icon">    </p:cNvPr>
          <p:cNvPicPr>
            <a:picLocks noChangeAspect="1"/>
          </p:cNvPicPr>
          <p:nvPr/>
        </p:nvPicPr>
        <p:blipFill>
          <a:blip r:embed="rId1"/>
          <a:stretch>
            <a:fillRect/>
          </a:stretch>
        </p:blipFill>
        <p:spPr>
          <a:xfrm>
            <a:off x="914400" y="2240280"/>
            <a:ext cx="274320" cy="274320"/>
          </a:xfrm>
          <a:prstGeom prst="rect">
            <a:avLst/>
          </a:prstGeom>
        </p:spPr>
      </p:pic>
      <p:sp>
        <p:nvSpPr>
          <p:cNvPr id="8" name="Text 4"/>
          <p:cNvSpPr txBox="1"/>
          <p:nvPr/>
        </p:nvSpPr>
        <p:spPr>
          <a:xfrm>
            <a:off x="1417320" y="2103120"/>
            <a:ext cx="1380744"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1  Data</a:t>
            </a:r>
            <a:endParaRPr lang="en-US" sz="1800" dirty="0"/>
          </a:p>
        </p:txBody>
      </p:sp>
      <p:sp>
        <p:nvSpPr>
          <p:cNvPr id="9" name="Text 5"/>
          <p:cNvSpPr txBox="1"/>
          <p:nvPr/>
        </p:nvSpPr>
        <p:spPr>
          <a:xfrm>
            <a:off x="822960" y="2880360"/>
            <a:ext cx="188366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Static EHR</a:t>
            </a:r>
            <a:endParaRPr lang="en-US" sz="1500" dirty="0"/>
          </a:p>
          <a:p>
            <a:pPr marL="342900" indent="-342900">
              <a:spcAft>
                <a:spcPts val="800"/>
              </a:spcAft>
              <a:buSzPct val="100000"/>
              <a:buChar char="•"/>
            </a:pPr>
            <a:r>
              <a:rPr lang="en-US" sz="1500" dirty="0">
                <a:solidFill>
                  <a:schemeClr val="tx1"/>
                </a:solidFill>
              </a:rPr>
              <a:t>Wearable stream</a:t>
            </a:r>
            <a:endParaRPr lang="en-US" sz="1500" dirty="0"/>
          </a:p>
          <a:p>
            <a:pPr marL="342900" indent="-342900">
              <a:spcAft>
                <a:spcPts val="800"/>
              </a:spcAft>
              <a:buSzPct val="100000"/>
              <a:buChar char="•"/>
            </a:pPr>
            <a:r>
              <a:rPr lang="en-US" sz="1500" dirty="0">
                <a:solidFill>
                  <a:schemeClr val="tx1"/>
                </a:solidFill>
              </a:rPr>
              <a:t>Synthetic generator</a:t>
            </a:r>
            <a:endParaRPr lang="en-US" sz="1500" dirty="0"/>
          </a:p>
        </p:txBody>
      </p:sp>
      <p:sp>
        <p:nvSpPr>
          <p:cNvPr id="10" name="Arrow 1"/>
          <p:cNvSpPr/>
          <p:nvPr/>
        </p:nvSpPr>
        <p:spPr>
          <a:xfrm>
            <a:off x="2944368" y="3497580"/>
            <a:ext cx="502920" cy="0"/>
          </a:xfrm>
          <a:prstGeom prst="line">
            <a:avLst/>
          </a:prstGeom>
          <a:noFill/>
          <a:ln w="31750">
            <a:solidFill>
              <a:schemeClr val="accent5"/>
            </a:solidFill>
            <a:prstDash val="solid"/>
            <a:tailEnd type="triangle"/>
          </a:ln>
        </p:spPr>
      </p:sp>
      <p:sp>
        <p:nvSpPr>
          <p:cNvPr id="11" name="Arch column 2"/>
          <p:cNvSpPr/>
          <p:nvPr/>
        </p:nvSpPr>
        <p:spPr>
          <a:xfrm>
            <a:off x="3465576" y="1874520"/>
            <a:ext cx="2340864" cy="3246120"/>
          </a:xfrm>
          <a:prstGeom prst="roundRect">
            <a:avLst>
              <a:gd name="adj" fmla="val 4688"/>
            </a:avLst>
          </a:prstGeom>
          <a:solidFill>
            <a:schemeClr val="bg2"/>
          </a:solidFill>
          <a:ln w="12700">
            <a:solidFill>
              <a:schemeClr val="bg2"/>
            </a:solidFill>
            <a:prstDash val="solid"/>
          </a:ln>
        </p:spPr>
      </p:sp>
      <p:sp>
        <p:nvSpPr>
          <p:cNvPr id="12" name="2  Fusion icon circle"/>
          <p:cNvSpPr/>
          <p:nvPr/>
        </p:nvSpPr>
        <p:spPr>
          <a:xfrm>
            <a:off x="3694176" y="2103120"/>
            <a:ext cx="548640" cy="548640"/>
          </a:xfrm>
          <a:prstGeom prst="ellipse">
            <a:avLst/>
          </a:prstGeom>
          <a:solidFill>
            <a:schemeClr val="accent1"/>
          </a:solidFill>
          <a:ln w="12700">
            <a:solidFill>
              <a:schemeClr val="accent1"/>
            </a:solidFill>
            <a:prstDash val="solid"/>
          </a:ln>
        </p:spPr>
      </p:sp>
      <p:pic>
        <p:nvPicPr>
          <p:cNvPr id="13" name="2  Fusion icon" descr="2  Fusion icon">    </p:cNvPr>
          <p:cNvPicPr>
            <a:picLocks noChangeAspect="1"/>
          </p:cNvPicPr>
          <p:nvPr/>
        </p:nvPicPr>
        <p:blipFill>
          <a:blip r:embed="rId2"/>
          <a:stretch>
            <a:fillRect/>
          </a:stretch>
        </p:blipFill>
        <p:spPr>
          <a:xfrm>
            <a:off x="3831336" y="2240280"/>
            <a:ext cx="274320" cy="274320"/>
          </a:xfrm>
          <a:prstGeom prst="rect">
            <a:avLst/>
          </a:prstGeom>
        </p:spPr>
      </p:pic>
      <p:sp>
        <p:nvSpPr>
          <p:cNvPr id="14" name="Text 9"/>
          <p:cNvSpPr txBox="1"/>
          <p:nvPr/>
        </p:nvSpPr>
        <p:spPr>
          <a:xfrm>
            <a:off x="4334256" y="2103120"/>
            <a:ext cx="1380744"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2  Fusion</a:t>
            </a:r>
            <a:endParaRPr lang="en-US" sz="1800" dirty="0"/>
          </a:p>
        </p:txBody>
      </p:sp>
      <p:sp>
        <p:nvSpPr>
          <p:cNvPr id="15" name="Text 10"/>
          <p:cNvSpPr txBox="1"/>
          <p:nvPr/>
        </p:nvSpPr>
        <p:spPr>
          <a:xfrm>
            <a:off x="3739896" y="2880360"/>
            <a:ext cx="188366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42 features</a:t>
            </a:r>
            <a:endParaRPr lang="en-US" sz="1500" dirty="0"/>
          </a:p>
          <a:p>
            <a:pPr marL="342900" indent="-342900">
              <a:spcAft>
                <a:spcPts val="800"/>
              </a:spcAft>
              <a:buSzPct val="100000"/>
              <a:buChar char="•"/>
            </a:pPr>
            <a:r>
              <a:rPr lang="en-US" sz="1500" dirty="0">
                <a:solidFill>
                  <a:schemeClr val="tx1"/>
                </a:solidFill>
              </a:rPr>
              <a:t>Lags and trends</a:t>
            </a:r>
            <a:endParaRPr lang="en-US" sz="1500" dirty="0"/>
          </a:p>
          <a:p>
            <a:pPr marL="342900" indent="-342900">
              <a:spcAft>
                <a:spcPts val="800"/>
              </a:spcAft>
              <a:buSzPct val="100000"/>
              <a:buChar char="•"/>
            </a:pPr>
            <a:r>
              <a:rPr lang="en-US" sz="1500" dirty="0">
                <a:solidFill>
                  <a:schemeClr val="tx1"/>
                </a:solidFill>
              </a:rPr>
              <a:t>1 h, 3 h, 24 h aggregates</a:t>
            </a:r>
            <a:endParaRPr lang="en-US" sz="1500" dirty="0"/>
          </a:p>
          <a:p>
            <a:pPr marL="342900" indent="-342900">
              <a:spcAft>
                <a:spcPts val="800"/>
              </a:spcAft>
              <a:buSzPct val="100000"/>
              <a:buChar char="•"/>
            </a:pPr>
            <a:r>
              <a:rPr lang="en-US" sz="1500" dirty="0">
                <a:solidFill>
                  <a:schemeClr val="tx1"/>
                </a:solidFill>
              </a:rPr>
              <a:t>Meal and sleep context</a:t>
            </a:r>
            <a:endParaRPr lang="en-US" sz="1500" dirty="0"/>
          </a:p>
        </p:txBody>
      </p:sp>
      <p:sp>
        <p:nvSpPr>
          <p:cNvPr id="16" name="Arrow 2"/>
          <p:cNvSpPr/>
          <p:nvPr/>
        </p:nvSpPr>
        <p:spPr>
          <a:xfrm>
            <a:off x="5861304" y="3497580"/>
            <a:ext cx="502920" cy="0"/>
          </a:xfrm>
          <a:prstGeom prst="line">
            <a:avLst/>
          </a:prstGeom>
          <a:noFill/>
          <a:ln w="31750">
            <a:solidFill>
              <a:schemeClr val="accent5"/>
            </a:solidFill>
            <a:prstDash val="solid"/>
            <a:tailEnd type="triangle"/>
          </a:ln>
        </p:spPr>
      </p:sp>
      <p:sp>
        <p:nvSpPr>
          <p:cNvPr id="17" name="Arch column 3"/>
          <p:cNvSpPr/>
          <p:nvPr/>
        </p:nvSpPr>
        <p:spPr>
          <a:xfrm>
            <a:off x="6382512" y="1874520"/>
            <a:ext cx="2340864" cy="3246120"/>
          </a:xfrm>
          <a:prstGeom prst="roundRect">
            <a:avLst>
              <a:gd name="adj" fmla="val 4688"/>
            </a:avLst>
          </a:prstGeom>
          <a:solidFill>
            <a:schemeClr val="bg2"/>
          </a:solidFill>
          <a:ln w="12700">
            <a:solidFill>
              <a:schemeClr val="bg2"/>
            </a:solidFill>
            <a:prstDash val="solid"/>
          </a:ln>
        </p:spPr>
      </p:sp>
      <p:sp>
        <p:nvSpPr>
          <p:cNvPr id="18" name="3  Engines icon circle"/>
          <p:cNvSpPr/>
          <p:nvPr/>
        </p:nvSpPr>
        <p:spPr>
          <a:xfrm>
            <a:off x="6611112" y="2103120"/>
            <a:ext cx="548640" cy="548640"/>
          </a:xfrm>
          <a:prstGeom prst="ellipse">
            <a:avLst/>
          </a:prstGeom>
          <a:solidFill>
            <a:schemeClr val="accent1"/>
          </a:solidFill>
          <a:ln w="12700">
            <a:solidFill>
              <a:schemeClr val="accent1"/>
            </a:solidFill>
            <a:prstDash val="solid"/>
          </a:ln>
        </p:spPr>
      </p:sp>
      <p:pic>
        <p:nvPicPr>
          <p:cNvPr id="19" name="3  Engines icon" descr="3  Engines icon">    </p:cNvPr>
          <p:cNvPicPr>
            <a:picLocks noChangeAspect="1"/>
          </p:cNvPicPr>
          <p:nvPr/>
        </p:nvPicPr>
        <p:blipFill>
          <a:blip r:embed="rId3"/>
          <a:stretch>
            <a:fillRect/>
          </a:stretch>
        </p:blipFill>
        <p:spPr>
          <a:xfrm>
            <a:off x="6748272" y="2240280"/>
            <a:ext cx="274320" cy="274320"/>
          </a:xfrm>
          <a:prstGeom prst="rect">
            <a:avLst/>
          </a:prstGeom>
        </p:spPr>
      </p:pic>
      <p:sp>
        <p:nvSpPr>
          <p:cNvPr id="20" name="Text 14"/>
          <p:cNvSpPr txBox="1"/>
          <p:nvPr/>
        </p:nvSpPr>
        <p:spPr>
          <a:xfrm>
            <a:off x="7251192" y="2103120"/>
            <a:ext cx="1380744"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3  Engines</a:t>
            </a:r>
            <a:endParaRPr lang="en-US" sz="1800" dirty="0"/>
          </a:p>
        </p:txBody>
      </p:sp>
      <p:sp>
        <p:nvSpPr>
          <p:cNvPr id="21" name="Engine XGBoost risk engine"/>
          <p:cNvSpPr/>
          <p:nvPr/>
        </p:nvSpPr>
        <p:spPr>
          <a:xfrm>
            <a:off x="6565392" y="2880360"/>
            <a:ext cx="1975104" cy="914400"/>
          </a:xfrm>
          <a:prstGeom prst="roundRect">
            <a:avLst>
              <a:gd name="adj" fmla="val 10000"/>
            </a:avLst>
          </a:prstGeom>
          <a:solidFill>
            <a:schemeClr val="accent1"/>
          </a:solidFill>
          <a:ln w="12700">
            <a:solidFill>
              <a:schemeClr val="accent1"/>
            </a:solidFill>
            <a:prstDash val="solid"/>
          </a:ln>
        </p:spPr>
      </p:sp>
      <p:sp>
        <p:nvSpPr>
          <p:cNvPr id="22" name="Text 16"/>
          <p:cNvSpPr txBox="1"/>
          <p:nvPr/>
        </p:nvSpPr>
        <p:spPr>
          <a:xfrm>
            <a:off x="6656832" y="2990088"/>
            <a:ext cx="1792224" cy="365760"/>
          </a:xfrm>
          <a:prstGeom prst="rect">
            <a:avLst/>
          </a:prstGeom>
          <a:noFill/>
          <a:ln/>
        </p:spPr>
        <p:txBody>
          <a:bodyPr wrap="square" lIns="0" tIns="0" rIns="0" bIns="0" rtlCol="0" anchor="t"/>
          <a:lstStyle/>
          <a:p>
            <a:pPr indent="0" marL="0">
              <a:buNone/>
            </a:pPr>
            <a:r>
              <a:rPr lang="en-US" sz="1500" b="1" dirty="0">
                <a:solidFill>
                  <a:schemeClr val="bg1"/>
                </a:solidFill>
              </a:rPr>
              <a:t>XGBoost risk engine</a:t>
            </a:r>
            <a:endParaRPr lang="en-US" sz="1500" dirty="0"/>
          </a:p>
        </p:txBody>
      </p:sp>
      <p:sp>
        <p:nvSpPr>
          <p:cNvPr id="23" name="Text 17"/>
          <p:cNvSpPr txBox="1"/>
          <p:nvPr/>
        </p:nvSpPr>
        <p:spPr>
          <a:xfrm>
            <a:off x="6656832" y="3383280"/>
            <a:ext cx="1792224" cy="320040"/>
          </a:xfrm>
          <a:prstGeom prst="rect">
            <a:avLst/>
          </a:prstGeom>
          <a:noFill/>
          <a:ln/>
        </p:spPr>
        <p:txBody>
          <a:bodyPr wrap="square" lIns="0" tIns="0" rIns="0" bIns="0" rtlCol="0" anchor="t"/>
          <a:lstStyle/>
          <a:p>
            <a:pPr indent="0" marL="0">
              <a:buNone/>
            </a:pPr>
            <a:r>
              <a:rPr lang="en-US" sz="1400" dirty="0">
                <a:solidFill>
                  <a:schemeClr val="bg1"/>
                </a:solidFill>
              </a:rPr>
              <a:t>2-hour spike alert</a:t>
            </a:r>
            <a:endParaRPr lang="en-US" sz="1400" dirty="0"/>
          </a:p>
        </p:txBody>
      </p:sp>
      <p:sp>
        <p:nvSpPr>
          <p:cNvPr id="24" name="Engine Mechanistic twin"/>
          <p:cNvSpPr/>
          <p:nvPr/>
        </p:nvSpPr>
        <p:spPr>
          <a:xfrm>
            <a:off x="6565392" y="3931920"/>
            <a:ext cx="1975104" cy="914400"/>
          </a:xfrm>
          <a:prstGeom prst="roundRect">
            <a:avLst>
              <a:gd name="adj" fmla="val 10000"/>
            </a:avLst>
          </a:prstGeom>
          <a:solidFill>
            <a:schemeClr val="accent2"/>
          </a:solidFill>
          <a:ln w="12700">
            <a:solidFill>
              <a:schemeClr val="accent2"/>
            </a:solidFill>
            <a:prstDash val="solid"/>
          </a:ln>
        </p:spPr>
      </p:sp>
      <p:sp>
        <p:nvSpPr>
          <p:cNvPr id="25" name="Text 19"/>
          <p:cNvSpPr txBox="1"/>
          <p:nvPr/>
        </p:nvSpPr>
        <p:spPr>
          <a:xfrm>
            <a:off x="6656832" y="4041648"/>
            <a:ext cx="1792224" cy="365760"/>
          </a:xfrm>
          <a:prstGeom prst="rect">
            <a:avLst/>
          </a:prstGeom>
          <a:noFill/>
          <a:ln/>
        </p:spPr>
        <p:txBody>
          <a:bodyPr wrap="square" lIns="0" tIns="0" rIns="0" bIns="0" rtlCol="0" anchor="t"/>
          <a:lstStyle/>
          <a:p>
            <a:pPr indent="0" marL="0">
              <a:buNone/>
            </a:pPr>
            <a:r>
              <a:rPr lang="en-US" sz="1500" b="1" dirty="0">
                <a:solidFill>
                  <a:schemeClr val="bg1"/>
                </a:solidFill>
              </a:rPr>
              <a:t>Mechanistic twin</a:t>
            </a:r>
            <a:endParaRPr lang="en-US" sz="1500" dirty="0"/>
          </a:p>
        </p:txBody>
      </p:sp>
      <p:sp>
        <p:nvSpPr>
          <p:cNvPr id="26" name="Text 20"/>
          <p:cNvSpPr txBox="1"/>
          <p:nvPr/>
        </p:nvSpPr>
        <p:spPr>
          <a:xfrm>
            <a:off x="6656832" y="4434840"/>
            <a:ext cx="1792224" cy="320040"/>
          </a:xfrm>
          <a:prstGeom prst="rect">
            <a:avLst/>
          </a:prstGeom>
          <a:noFill/>
          <a:ln/>
        </p:spPr>
        <p:txBody>
          <a:bodyPr wrap="square" lIns="0" tIns="0" rIns="0" bIns="0" rtlCol="0" anchor="t"/>
          <a:lstStyle/>
          <a:p>
            <a:pPr indent="0" marL="0">
              <a:buNone/>
            </a:pPr>
            <a:r>
              <a:rPr lang="en-US" sz="1400" dirty="0">
                <a:solidFill>
                  <a:schemeClr val="bg1"/>
                </a:solidFill>
              </a:rPr>
              <a:t>What-if simulation</a:t>
            </a:r>
            <a:endParaRPr lang="en-US" sz="1400" dirty="0"/>
          </a:p>
        </p:txBody>
      </p:sp>
      <p:sp>
        <p:nvSpPr>
          <p:cNvPr id="27" name="Arrow 3"/>
          <p:cNvSpPr/>
          <p:nvPr/>
        </p:nvSpPr>
        <p:spPr>
          <a:xfrm>
            <a:off x="8778240" y="3497580"/>
            <a:ext cx="502920" cy="0"/>
          </a:xfrm>
          <a:prstGeom prst="line">
            <a:avLst/>
          </a:prstGeom>
          <a:noFill/>
          <a:ln w="31750">
            <a:solidFill>
              <a:schemeClr val="accent5"/>
            </a:solidFill>
            <a:prstDash val="solid"/>
            <a:tailEnd type="triangle"/>
          </a:ln>
        </p:spPr>
      </p:sp>
      <p:sp>
        <p:nvSpPr>
          <p:cNvPr id="28" name="Arch column 4"/>
          <p:cNvSpPr/>
          <p:nvPr/>
        </p:nvSpPr>
        <p:spPr>
          <a:xfrm>
            <a:off x="9299448" y="1874520"/>
            <a:ext cx="2340864" cy="3246120"/>
          </a:xfrm>
          <a:prstGeom prst="roundRect">
            <a:avLst>
              <a:gd name="adj" fmla="val 4688"/>
            </a:avLst>
          </a:prstGeom>
          <a:solidFill>
            <a:schemeClr val="bg2"/>
          </a:solidFill>
          <a:ln w="12700">
            <a:solidFill>
              <a:schemeClr val="bg2"/>
            </a:solidFill>
            <a:prstDash val="solid"/>
          </a:ln>
        </p:spPr>
      </p:sp>
      <p:sp>
        <p:nvSpPr>
          <p:cNvPr id="29" name="4  Dashboard icon circle"/>
          <p:cNvSpPr/>
          <p:nvPr/>
        </p:nvSpPr>
        <p:spPr>
          <a:xfrm>
            <a:off x="9528048" y="2103120"/>
            <a:ext cx="548640" cy="548640"/>
          </a:xfrm>
          <a:prstGeom prst="ellipse">
            <a:avLst/>
          </a:prstGeom>
          <a:solidFill>
            <a:schemeClr val="accent1"/>
          </a:solidFill>
          <a:ln w="12700">
            <a:solidFill>
              <a:schemeClr val="accent1"/>
            </a:solidFill>
            <a:prstDash val="solid"/>
          </a:ln>
        </p:spPr>
      </p:sp>
      <p:pic>
        <p:nvPicPr>
          <p:cNvPr id="30" name="4  Dashboard icon" descr="4  Dashboard icon">    </p:cNvPr>
          <p:cNvPicPr>
            <a:picLocks noChangeAspect="1"/>
          </p:cNvPicPr>
          <p:nvPr/>
        </p:nvPicPr>
        <p:blipFill>
          <a:blip r:embed="rId4"/>
          <a:stretch>
            <a:fillRect/>
          </a:stretch>
        </p:blipFill>
        <p:spPr>
          <a:xfrm>
            <a:off x="9665208" y="2240280"/>
            <a:ext cx="274320" cy="274320"/>
          </a:xfrm>
          <a:prstGeom prst="rect">
            <a:avLst/>
          </a:prstGeom>
        </p:spPr>
      </p:pic>
      <p:sp>
        <p:nvSpPr>
          <p:cNvPr id="31" name="Text 24"/>
          <p:cNvSpPr txBox="1"/>
          <p:nvPr/>
        </p:nvSpPr>
        <p:spPr>
          <a:xfrm>
            <a:off x="10168128" y="2103120"/>
            <a:ext cx="1380744"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4  Dashboard</a:t>
            </a:r>
            <a:endParaRPr lang="en-US" sz="1800" dirty="0"/>
          </a:p>
        </p:txBody>
      </p:sp>
      <p:sp>
        <p:nvSpPr>
          <p:cNvPr id="32" name="Text 25"/>
          <p:cNvSpPr txBox="1"/>
          <p:nvPr/>
        </p:nvSpPr>
        <p:spPr>
          <a:xfrm>
            <a:off x="9573768" y="2880360"/>
            <a:ext cx="188366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Ranked patient list</a:t>
            </a:r>
            <a:endParaRPr lang="en-US" sz="1500" dirty="0"/>
          </a:p>
          <a:p>
            <a:pPr marL="342900" indent="-342900">
              <a:spcAft>
                <a:spcPts val="800"/>
              </a:spcAft>
              <a:buSzPct val="100000"/>
              <a:buChar char="•"/>
            </a:pPr>
            <a:r>
              <a:rPr lang="en-US" sz="1500" dirty="0">
                <a:solidFill>
                  <a:schemeClr val="tx1"/>
                </a:solidFill>
              </a:rPr>
              <a:t>Explainable alerts</a:t>
            </a:r>
            <a:endParaRPr lang="en-US" sz="1500" dirty="0"/>
          </a:p>
          <a:p>
            <a:pPr marL="342900" indent="-342900">
              <a:spcAft>
                <a:spcPts val="800"/>
              </a:spcAft>
              <a:buSzPct val="100000"/>
              <a:buChar char="•"/>
            </a:pPr>
            <a:r>
              <a:rPr lang="en-US" sz="1500" dirty="0">
                <a:solidFill>
                  <a:schemeClr val="tx1"/>
                </a:solidFill>
              </a:rPr>
              <a:t>What-if scenarios</a:t>
            </a:r>
            <a:endParaRPr lang="en-US" sz="1500" dirty="0"/>
          </a:p>
          <a:p>
            <a:pPr marL="342900" indent="-342900">
              <a:spcAft>
                <a:spcPts val="800"/>
              </a:spcAft>
              <a:buSzPct val="100000"/>
              <a:buChar char="•"/>
            </a:pPr>
            <a:r>
              <a:rPr lang="en-US" sz="1500" dirty="0">
                <a:solidFill>
                  <a:schemeClr val="tx1"/>
                </a:solidFill>
              </a:rPr>
              <a:t>Live replay clock</a:t>
            </a:r>
            <a:endParaRPr lang="en-US" sz="1500" dirty="0"/>
          </a:p>
        </p:txBody>
      </p:sp>
      <p:sp>
        <p:nvSpPr>
          <p:cNvPr id="33" name="Hybrid banner"/>
          <p:cNvSpPr/>
          <p:nvPr/>
        </p:nvSpPr>
        <p:spPr>
          <a:xfrm>
            <a:off x="548640" y="5394960"/>
            <a:ext cx="11091672" cy="731520"/>
          </a:xfrm>
          <a:prstGeom prst="roundRect">
            <a:avLst>
              <a:gd name="adj" fmla="val 15000"/>
            </a:avLst>
          </a:prstGeom>
          <a:solidFill>
            <a:schemeClr val="tx2"/>
          </a:solidFill>
          <a:ln w="12700">
            <a:solidFill>
              <a:schemeClr val="tx2"/>
            </a:solidFill>
            <a:prstDash val="solid"/>
          </a:ln>
        </p:spPr>
      </p:sp>
      <p:sp>
        <p:nvSpPr>
          <p:cNvPr id="34" name="Text 27"/>
          <p:cNvSpPr txBox="1"/>
          <p:nvPr/>
        </p:nvSpPr>
        <p:spPr>
          <a:xfrm>
            <a:off x="822960" y="5394960"/>
            <a:ext cx="10515600" cy="731520"/>
          </a:xfrm>
          <a:prstGeom prst="rect">
            <a:avLst/>
          </a:prstGeom>
          <a:noFill/>
          <a:ln/>
        </p:spPr>
        <p:txBody>
          <a:bodyPr wrap="square" lIns="0" tIns="0" rIns="0" bIns="0" rtlCol="0" anchor="ctr"/>
          <a:lstStyle/>
          <a:p>
            <a:pPr indent="0" marL="0">
              <a:buNone/>
            </a:pPr>
            <a:r>
              <a:rPr lang="en-US" sz="1800" b="1" dirty="0">
                <a:solidFill>
                  <a:schemeClr val="bg1"/>
                </a:solidFill>
              </a:rPr>
              <a:t>Hybrid twin: data-driven accuracy for alerts, physiological reasoning for what-if scenarios</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ML Prediction Engine</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42 fused features, two XGBoost models, honest validation</a:t>
            </a:r>
            <a:endParaRPr lang="en-US" sz="1800" dirty="0"/>
          </a:p>
        </p:txBody>
      </p:sp>
      <p:sp>
        <p:nvSpPr>
          <p:cNvPr id="5" name="Text 2"/>
          <p:cNvSpPr txBox="1"/>
          <p:nvPr/>
        </p:nvSpPr>
        <p:spPr>
          <a:xfrm>
            <a:off x="548640" y="1828800"/>
            <a:ext cx="5852160" cy="320040"/>
          </a:xfrm>
          <a:prstGeom prst="rect">
            <a:avLst/>
          </a:prstGeom>
          <a:noFill/>
          <a:ln/>
        </p:spPr>
        <p:txBody>
          <a:bodyPr wrap="square" lIns="0" tIns="0" rIns="0" bIns="0" rtlCol="0" anchor="t"/>
          <a:lstStyle/>
          <a:p>
            <a:pPr indent="0" marL="0">
              <a:buNone/>
            </a:pPr>
            <a:r>
              <a:rPr lang="en-US" sz="1600" b="1" dirty="0">
                <a:solidFill>
                  <a:schemeClr val="tx2"/>
                </a:solidFill>
              </a:rPr>
              <a:t>What drives the spike prediction</a:t>
            </a:r>
            <a:endParaRPr lang="en-US" sz="1600" dirty="0"/>
          </a:p>
        </p:txBody>
      </p:sp>
      <p:graphicFrame>
        <p:nvGraphicFramePr>
          <p:cNvPr id="6" name="Feature importance chart" descr=""/>
          <p:cNvGraphicFramePr/>
          <p:nvPr/>
        </p:nvGraphicFramePr>
        <p:xfrm>
          <a:off x="548640" y="219456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7" name="Step card 1"/>
          <p:cNvSpPr/>
          <p:nvPr/>
        </p:nvSpPr>
        <p:spPr>
          <a:xfrm>
            <a:off x="6766560" y="1874520"/>
            <a:ext cx="4873752" cy="1280160"/>
          </a:xfrm>
          <a:prstGeom prst="roundRect">
            <a:avLst>
              <a:gd name="adj" fmla="val 8571"/>
            </a:avLst>
          </a:prstGeom>
          <a:solidFill>
            <a:schemeClr val="bg2"/>
          </a:solidFill>
          <a:ln w="12700">
            <a:solidFill>
              <a:schemeClr val="bg2"/>
            </a:solidFill>
            <a:prstDash val="solid"/>
          </a:ln>
        </p:spPr>
      </p:sp>
      <p:sp>
        <p:nvSpPr>
          <p:cNvPr id="8" name="Step number 1"/>
          <p:cNvSpPr/>
          <p:nvPr/>
        </p:nvSpPr>
        <p:spPr>
          <a:xfrm>
            <a:off x="6995160" y="2221992"/>
            <a:ext cx="585216" cy="585216"/>
          </a:xfrm>
          <a:prstGeom prst="ellipse">
            <a:avLst/>
          </a:prstGeom>
          <a:solidFill>
            <a:schemeClr val="accent1"/>
          </a:solidFill>
          <a:ln w="12700">
            <a:solidFill>
              <a:schemeClr val="accent1"/>
            </a:solidFill>
            <a:prstDash val="solid"/>
          </a:ln>
        </p:spPr>
      </p:sp>
      <p:sp>
        <p:nvSpPr>
          <p:cNvPr id="9" name="Text 5"/>
          <p:cNvSpPr txBox="1"/>
          <p:nvPr/>
        </p:nvSpPr>
        <p:spPr>
          <a:xfrm>
            <a:off x="6995160" y="2221992"/>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10" name="Text 6"/>
          <p:cNvSpPr txBox="1"/>
          <p:nvPr/>
        </p:nvSpPr>
        <p:spPr>
          <a:xfrm>
            <a:off x="7772400" y="2011680"/>
            <a:ext cx="365760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Fuse</a:t>
            </a:r>
            <a:endParaRPr lang="en-US" sz="2000" dirty="0"/>
          </a:p>
        </p:txBody>
      </p:sp>
      <p:sp>
        <p:nvSpPr>
          <p:cNvPr id="11" name="Text 7"/>
          <p:cNvSpPr txBox="1"/>
          <p:nvPr/>
        </p:nvSpPr>
        <p:spPr>
          <a:xfrm>
            <a:off x="7772400" y="2404872"/>
            <a:ext cx="3657600" cy="731520"/>
          </a:xfrm>
          <a:prstGeom prst="rect">
            <a:avLst/>
          </a:prstGeom>
          <a:noFill/>
          <a:ln/>
        </p:spPr>
        <p:txBody>
          <a:bodyPr wrap="square" lIns="0" tIns="0" rIns="0" bIns="0" rtlCol="0" anchor="t"/>
          <a:lstStyle/>
          <a:p>
            <a:pPr indent="0" marL="0">
              <a:buNone/>
            </a:pPr>
            <a:r>
              <a:rPr lang="en-US" sz="1400" dirty="0">
                <a:solidFill>
                  <a:schemeClr val="tx1"/>
                </a:solidFill>
              </a:rPr>
              <a:t>Glucose lags and trends, 24 h aggregates, heart rate, steps, sleep, meals and EHR in one table.</a:t>
            </a:r>
            <a:endParaRPr lang="en-US" sz="1400" dirty="0"/>
          </a:p>
        </p:txBody>
      </p:sp>
      <p:sp>
        <p:nvSpPr>
          <p:cNvPr id="12" name="Step card 2"/>
          <p:cNvSpPr/>
          <p:nvPr/>
        </p:nvSpPr>
        <p:spPr>
          <a:xfrm>
            <a:off x="6766560" y="3291840"/>
            <a:ext cx="4873752" cy="1280160"/>
          </a:xfrm>
          <a:prstGeom prst="roundRect">
            <a:avLst>
              <a:gd name="adj" fmla="val 8571"/>
            </a:avLst>
          </a:prstGeom>
          <a:solidFill>
            <a:schemeClr val="bg2"/>
          </a:solidFill>
          <a:ln w="12700">
            <a:solidFill>
              <a:schemeClr val="bg2"/>
            </a:solidFill>
            <a:prstDash val="solid"/>
          </a:ln>
        </p:spPr>
      </p:sp>
      <p:sp>
        <p:nvSpPr>
          <p:cNvPr id="13" name="Step number 2"/>
          <p:cNvSpPr/>
          <p:nvPr/>
        </p:nvSpPr>
        <p:spPr>
          <a:xfrm>
            <a:off x="6995160" y="3639312"/>
            <a:ext cx="585216" cy="585216"/>
          </a:xfrm>
          <a:prstGeom prst="ellipse">
            <a:avLst/>
          </a:prstGeom>
          <a:solidFill>
            <a:schemeClr val="accent1"/>
          </a:solidFill>
          <a:ln w="12700">
            <a:solidFill>
              <a:schemeClr val="accent1"/>
            </a:solidFill>
            <a:prstDash val="solid"/>
          </a:ln>
        </p:spPr>
      </p:sp>
      <p:sp>
        <p:nvSpPr>
          <p:cNvPr id="14" name="Text 10"/>
          <p:cNvSpPr txBox="1"/>
          <p:nvPr/>
        </p:nvSpPr>
        <p:spPr>
          <a:xfrm>
            <a:off x="6995160" y="3639312"/>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5" name="Text 11"/>
          <p:cNvSpPr txBox="1"/>
          <p:nvPr/>
        </p:nvSpPr>
        <p:spPr>
          <a:xfrm>
            <a:off x="7772400" y="3429000"/>
            <a:ext cx="365760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Train</a:t>
            </a:r>
            <a:endParaRPr lang="en-US" sz="2000" dirty="0"/>
          </a:p>
        </p:txBody>
      </p:sp>
      <p:sp>
        <p:nvSpPr>
          <p:cNvPr id="16" name="Text 12"/>
          <p:cNvSpPr txBox="1"/>
          <p:nvPr/>
        </p:nvSpPr>
        <p:spPr>
          <a:xfrm>
            <a:off x="7772400" y="3822192"/>
            <a:ext cx="3657600" cy="731520"/>
          </a:xfrm>
          <a:prstGeom prst="rect">
            <a:avLst/>
          </a:prstGeom>
          <a:noFill/>
          <a:ln/>
        </p:spPr>
        <p:txBody>
          <a:bodyPr wrap="square" lIns="0" tIns="0" rIns="0" bIns="0" rtlCol="0" anchor="t"/>
          <a:lstStyle/>
          <a:p>
            <a:pPr indent="0" marL="0">
              <a:buNone/>
            </a:pPr>
            <a:r>
              <a:rPr lang="en-US" sz="1400" dirty="0">
                <a:solidFill>
                  <a:schemeClr val="tx1"/>
                </a:solidFill>
              </a:rPr>
              <a:t>XGBoost classifier and regressor with a patient-level train, validation and test split.</a:t>
            </a:r>
            <a:endParaRPr lang="en-US" sz="1400" dirty="0"/>
          </a:p>
        </p:txBody>
      </p:sp>
      <p:sp>
        <p:nvSpPr>
          <p:cNvPr id="17" name="Step card 3"/>
          <p:cNvSpPr/>
          <p:nvPr/>
        </p:nvSpPr>
        <p:spPr>
          <a:xfrm>
            <a:off x="6766560" y="4709160"/>
            <a:ext cx="4873752" cy="1280160"/>
          </a:xfrm>
          <a:prstGeom prst="roundRect">
            <a:avLst>
              <a:gd name="adj" fmla="val 8571"/>
            </a:avLst>
          </a:prstGeom>
          <a:solidFill>
            <a:schemeClr val="bg2"/>
          </a:solidFill>
          <a:ln w="12700">
            <a:solidFill>
              <a:schemeClr val="bg2"/>
            </a:solidFill>
            <a:prstDash val="solid"/>
          </a:ln>
        </p:spPr>
      </p:sp>
      <p:sp>
        <p:nvSpPr>
          <p:cNvPr id="18" name="Step number 3"/>
          <p:cNvSpPr/>
          <p:nvPr/>
        </p:nvSpPr>
        <p:spPr>
          <a:xfrm>
            <a:off x="6995160" y="5056632"/>
            <a:ext cx="585216" cy="585216"/>
          </a:xfrm>
          <a:prstGeom prst="ellipse">
            <a:avLst/>
          </a:prstGeom>
          <a:solidFill>
            <a:schemeClr val="accent1"/>
          </a:solidFill>
          <a:ln w="12700">
            <a:solidFill>
              <a:schemeClr val="accent1"/>
            </a:solidFill>
            <a:prstDash val="solid"/>
          </a:ln>
        </p:spPr>
      </p:sp>
      <p:sp>
        <p:nvSpPr>
          <p:cNvPr id="19" name="Text 15"/>
          <p:cNvSpPr txBox="1"/>
          <p:nvPr/>
        </p:nvSpPr>
        <p:spPr>
          <a:xfrm>
            <a:off x="6995160" y="5056632"/>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0" name="Text 16"/>
          <p:cNvSpPr txBox="1"/>
          <p:nvPr/>
        </p:nvSpPr>
        <p:spPr>
          <a:xfrm>
            <a:off x="7772400" y="4846320"/>
            <a:ext cx="365760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Explain</a:t>
            </a:r>
            <a:endParaRPr lang="en-US" sz="2000" dirty="0"/>
          </a:p>
        </p:txBody>
      </p:sp>
      <p:sp>
        <p:nvSpPr>
          <p:cNvPr id="21" name="Text 17"/>
          <p:cNvSpPr txBox="1"/>
          <p:nvPr/>
        </p:nvSpPr>
        <p:spPr>
          <a:xfrm>
            <a:off x="7772400" y="5239512"/>
            <a:ext cx="3657600" cy="731520"/>
          </a:xfrm>
          <a:prstGeom prst="rect">
            <a:avLst/>
          </a:prstGeom>
          <a:noFill/>
          <a:ln/>
        </p:spPr>
        <p:txBody>
          <a:bodyPr wrap="square" lIns="0" tIns="0" rIns="0" bIns="0" rtlCol="0" anchor="t"/>
          <a:lstStyle/>
          <a:p>
            <a:pPr indent="0" marL="0">
              <a:buNone/>
            </a:pPr>
            <a:r>
              <a:rPr lang="en-US" sz="1400" dirty="0">
                <a:solidFill>
                  <a:schemeClr val="tx1"/>
                </a:solidFill>
              </a:rPr>
              <a:t>Every alert lists its top drivers, so the doctor sees why the model is worried.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Results</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About half the error of a naive forecast, tested on unseen patients</a:t>
            </a:r>
            <a:endParaRPr lang="en-US" sz="1800" dirty="0"/>
          </a:p>
        </p:txBody>
      </p:sp>
      <p:sp>
        <p:nvSpPr>
          <p:cNvPr id="5" name="Text 2"/>
          <p:cNvSpPr txBox="1"/>
          <p:nvPr/>
        </p:nvSpPr>
        <p:spPr>
          <a:xfrm>
            <a:off x="548640" y="1828800"/>
            <a:ext cx="6035040" cy="320040"/>
          </a:xfrm>
          <a:prstGeom prst="rect">
            <a:avLst/>
          </a:prstGeom>
          <a:noFill/>
          <a:ln/>
        </p:spPr>
        <p:txBody>
          <a:bodyPr wrap="square" lIns="0" tIns="0" rIns="0" bIns="0" rtlCol="0" anchor="t"/>
          <a:lstStyle/>
          <a:p>
            <a:pPr indent="0" marL="0">
              <a:buNone/>
            </a:pPr>
            <a:r>
              <a:rPr lang="en-US" sz="1600" b="1" dirty="0">
                <a:solidFill>
                  <a:schemeClr val="tx2"/>
                </a:solidFill>
              </a:rPr>
              <a:t>Error in glucose at +120 min (mg/dL, lower is better)</a:t>
            </a:r>
            <a:endParaRPr lang="en-US" sz="1600" dirty="0"/>
          </a:p>
        </p:txBody>
      </p:sp>
      <p:graphicFrame>
        <p:nvGraphicFramePr>
          <p:cNvPr id="6" name="Error comparison chart" descr=""/>
          <p:cNvGraphicFramePr/>
          <p:nvPr/>
        </p:nvGraphicFramePr>
        <p:xfrm>
          <a:off x="548640" y="219456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7" name="KPI 1"/>
          <p:cNvSpPr/>
          <p:nvPr/>
        </p:nvSpPr>
        <p:spPr>
          <a:xfrm>
            <a:off x="6949440" y="1874520"/>
            <a:ext cx="2240280" cy="1828800"/>
          </a:xfrm>
          <a:prstGeom prst="roundRect">
            <a:avLst>
              <a:gd name="adj" fmla="val 6000"/>
            </a:avLst>
          </a:prstGeom>
          <a:solidFill>
            <a:schemeClr val="tx2"/>
          </a:solidFill>
          <a:ln w="12700">
            <a:solidFill>
              <a:schemeClr val="tx2"/>
            </a:solidFill>
            <a:prstDash val="solid"/>
          </a:ln>
        </p:spPr>
      </p:sp>
      <p:sp>
        <p:nvSpPr>
          <p:cNvPr id="8" name="Text 4"/>
          <p:cNvSpPr txBox="1"/>
          <p:nvPr/>
        </p:nvSpPr>
        <p:spPr>
          <a:xfrm>
            <a:off x="7178040" y="2148840"/>
            <a:ext cx="1828800" cy="777240"/>
          </a:xfrm>
          <a:prstGeom prst="rect">
            <a:avLst/>
          </a:prstGeom>
          <a:noFill/>
          <a:ln/>
        </p:spPr>
        <p:txBody>
          <a:bodyPr wrap="square" lIns="0" tIns="0" rIns="0" bIns="0" rtlCol="0" anchor="ctr"/>
          <a:lstStyle/>
          <a:p>
            <a:pPr indent="0" marL="0">
              <a:buNone/>
            </a:pPr>
            <a:r>
              <a:rPr lang="en-US" sz="3800" b="1" dirty="0">
                <a:solidFill>
                  <a:srgbClr val="8FD3D9"/>
                </a:solidFill>
                <a:latin typeface="Cambria" pitchFamily="34" charset="0"/>
                <a:ea typeface="Cambria" pitchFamily="34" charset="-122"/>
                <a:cs typeface="Cambria" pitchFamily="34" charset="-120"/>
              </a:rPr>
              <a:t>0.815</a:t>
            </a:r>
            <a:endParaRPr lang="en-US" sz="3800" dirty="0"/>
          </a:p>
        </p:txBody>
      </p:sp>
      <p:sp>
        <p:nvSpPr>
          <p:cNvPr id="9" name="Text 5"/>
          <p:cNvSpPr txBox="1"/>
          <p:nvPr/>
        </p:nvSpPr>
        <p:spPr>
          <a:xfrm>
            <a:off x="7178040" y="2971800"/>
            <a:ext cx="1828800" cy="365760"/>
          </a:xfrm>
          <a:prstGeom prst="rect">
            <a:avLst/>
          </a:prstGeom>
          <a:noFill/>
          <a:ln/>
        </p:spPr>
        <p:txBody>
          <a:bodyPr wrap="square" lIns="0" tIns="0" rIns="0" bIns="0" rtlCol="0" anchor="t"/>
          <a:lstStyle/>
          <a:p>
            <a:pPr indent="0" marL="0">
              <a:buNone/>
            </a:pPr>
            <a:r>
              <a:rPr lang="en-US" sz="1500" dirty="0">
                <a:solidFill>
                  <a:schemeClr val="bg1"/>
                </a:solidFill>
              </a:rPr>
              <a:t>F1-score (spike)</a:t>
            </a:r>
            <a:endParaRPr lang="en-US" sz="1500" dirty="0"/>
          </a:p>
        </p:txBody>
      </p:sp>
      <p:sp>
        <p:nvSpPr>
          <p:cNvPr id="10" name="KPI 2"/>
          <p:cNvSpPr/>
          <p:nvPr/>
        </p:nvSpPr>
        <p:spPr>
          <a:xfrm>
            <a:off x="9418320" y="1874520"/>
            <a:ext cx="2240280" cy="1828800"/>
          </a:xfrm>
          <a:prstGeom prst="roundRect">
            <a:avLst>
              <a:gd name="adj" fmla="val 6000"/>
            </a:avLst>
          </a:prstGeom>
          <a:solidFill>
            <a:schemeClr val="bg2"/>
          </a:solidFill>
          <a:ln w="12700">
            <a:solidFill>
              <a:schemeClr val="bg2"/>
            </a:solidFill>
            <a:prstDash val="solid"/>
          </a:ln>
        </p:spPr>
      </p:sp>
      <p:sp>
        <p:nvSpPr>
          <p:cNvPr id="11" name="Text 7"/>
          <p:cNvSpPr txBox="1"/>
          <p:nvPr/>
        </p:nvSpPr>
        <p:spPr>
          <a:xfrm>
            <a:off x="9646920" y="2148840"/>
            <a:ext cx="1828800" cy="7772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93.9%</a:t>
            </a:r>
            <a:endParaRPr lang="en-US" sz="3800" dirty="0"/>
          </a:p>
        </p:txBody>
      </p:sp>
      <p:sp>
        <p:nvSpPr>
          <p:cNvPr id="12" name="Text 8"/>
          <p:cNvSpPr txBox="1"/>
          <p:nvPr/>
        </p:nvSpPr>
        <p:spPr>
          <a:xfrm>
            <a:off x="9646920" y="2971800"/>
            <a:ext cx="1828800" cy="365760"/>
          </a:xfrm>
          <a:prstGeom prst="rect">
            <a:avLst/>
          </a:prstGeom>
          <a:noFill/>
          <a:ln/>
        </p:spPr>
        <p:txBody>
          <a:bodyPr wrap="square" lIns="0" tIns="0" rIns="0" bIns="0" rtlCol="0" anchor="t"/>
          <a:lstStyle/>
          <a:p>
            <a:pPr indent="0" marL="0">
              <a:buNone/>
            </a:pPr>
            <a:r>
              <a:rPr lang="en-US" sz="1500" dirty="0">
                <a:solidFill>
                  <a:schemeClr val="tx1"/>
                </a:solidFill>
              </a:rPr>
              <a:t>Accuracy</a:t>
            </a:r>
            <a:endParaRPr lang="en-US" sz="1500" dirty="0"/>
          </a:p>
        </p:txBody>
      </p:sp>
      <p:sp>
        <p:nvSpPr>
          <p:cNvPr id="13" name="KPI 3"/>
          <p:cNvSpPr/>
          <p:nvPr/>
        </p:nvSpPr>
        <p:spPr>
          <a:xfrm>
            <a:off x="6949440" y="3886200"/>
            <a:ext cx="2240280" cy="1828800"/>
          </a:xfrm>
          <a:prstGeom prst="roundRect">
            <a:avLst>
              <a:gd name="adj" fmla="val 6000"/>
            </a:avLst>
          </a:prstGeom>
          <a:solidFill>
            <a:schemeClr val="bg2"/>
          </a:solidFill>
          <a:ln w="12700">
            <a:solidFill>
              <a:schemeClr val="bg2"/>
            </a:solidFill>
            <a:prstDash val="solid"/>
          </a:ln>
        </p:spPr>
      </p:sp>
      <p:sp>
        <p:nvSpPr>
          <p:cNvPr id="14" name="Text 10"/>
          <p:cNvSpPr txBox="1"/>
          <p:nvPr/>
        </p:nvSpPr>
        <p:spPr>
          <a:xfrm>
            <a:off x="7178040" y="4160520"/>
            <a:ext cx="1828800" cy="7772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0.974</a:t>
            </a:r>
            <a:endParaRPr lang="en-US" sz="3800" dirty="0"/>
          </a:p>
        </p:txBody>
      </p:sp>
      <p:sp>
        <p:nvSpPr>
          <p:cNvPr id="15" name="Text 11"/>
          <p:cNvSpPr txBox="1"/>
          <p:nvPr/>
        </p:nvSpPr>
        <p:spPr>
          <a:xfrm>
            <a:off x="7178040" y="4983480"/>
            <a:ext cx="1828800" cy="365760"/>
          </a:xfrm>
          <a:prstGeom prst="rect">
            <a:avLst/>
          </a:prstGeom>
          <a:noFill/>
          <a:ln/>
        </p:spPr>
        <p:txBody>
          <a:bodyPr wrap="square" lIns="0" tIns="0" rIns="0" bIns="0" rtlCol="0" anchor="t"/>
          <a:lstStyle/>
          <a:p>
            <a:pPr indent="0" marL="0">
              <a:buNone/>
            </a:pPr>
            <a:r>
              <a:rPr lang="en-US" sz="1500" dirty="0">
                <a:solidFill>
                  <a:schemeClr val="tx1"/>
                </a:solidFill>
              </a:rPr>
              <a:t>ROC-AUC</a:t>
            </a:r>
            <a:endParaRPr lang="en-US" sz="1500" dirty="0"/>
          </a:p>
        </p:txBody>
      </p:sp>
      <p:sp>
        <p:nvSpPr>
          <p:cNvPr id="16" name="KPI 4"/>
          <p:cNvSpPr/>
          <p:nvPr/>
        </p:nvSpPr>
        <p:spPr>
          <a:xfrm>
            <a:off x="9418320" y="3886200"/>
            <a:ext cx="2240280" cy="1828800"/>
          </a:xfrm>
          <a:prstGeom prst="roundRect">
            <a:avLst>
              <a:gd name="adj" fmla="val 6000"/>
            </a:avLst>
          </a:prstGeom>
          <a:solidFill>
            <a:schemeClr val="bg2"/>
          </a:solidFill>
          <a:ln w="12700">
            <a:solidFill>
              <a:schemeClr val="bg2"/>
            </a:solidFill>
            <a:prstDash val="solid"/>
          </a:ln>
        </p:spPr>
      </p:sp>
      <p:sp>
        <p:nvSpPr>
          <p:cNvPr id="17" name="Text 13"/>
          <p:cNvSpPr txBox="1"/>
          <p:nvPr/>
        </p:nvSpPr>
        <p:spPr>
          <a:xfrm>
            <a:off x="9646920" y="4160520"/>
            <a:ext cx="1828800" cy="7772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78.5%</a:t>
            </a:r>
            <a:endParaRPr lang="en-US" sz="3800" dirty="0"/>
          </a:p>
        </p:txBody>
      </p:sp>
      <p:sp>
        <p:nvSpPr>
          <p:cNvPr id="18" name="Text 14"/>
          <p:cNvSpPr txBox="1"/>
          <p:nvPr/>
        </p:nvSpPr>
        <p:spPr>
          <a:xfrm>
            <a:off x="9646920" y="4983480"/>
            <a:ext cx="1828800" cy="365760"/>
          </a:xfrm>
          <a:prstGeom prst="rect">
            <a:avLst/>
          </a:prstGeom>
          <a:noFill/>
          <a:ln/>
        </p:spPr>
        <p:txBody>
          <a:bodyPr wrap="square" lIns="0" tIns="0" rIns="0" bIns="0" rtlCol="0" anchor="t"/>
          <a:lstStyle/>
          <a:p>
            <a:pPr indent="0" marL="0">
              <a:buNone/>
            </a:pPr>
            <a:r>
              <a:rPr lang="en-US" sz="1500" dirty="0">
                <a:solidFill>
                  <a:schemeClr val="tx1"/>
                </a:solidFill>
              </a:rPr>
              <a:t>Sensitivity</a:t>
            </a:r>
            <a:endParaRPr lang="en-US" sz="1500" dirty="0"/>
          </a:p>
        </p:txBody>
      </p:sp>
      <p:sp>
        <p:nvSpPr>
          <p:cNvPr id="19" name="Text 15"/>
          <p:cNvSpPr txBox="1"/>
          <p:nvPr/>
        </p:nvSpPr>
        <p:spPr>
          <a:xfrm>
            <a:off x="6949440" y="5897880"/>
            <a:ext cx="4663440" cy="274320"/>
          </a:xfrm>
          <a:prstGeom prst="rect">
            <a:avLst/>
          </a:prstGeom>
          <a:noFill/>
          <a:ln/>
        </p:spPr>
        <p:txBody>
          <a:bodyPr wrap="square" lIns="0" tIns="0" rIns="0" bIns="0" rtlCol="0" anchor="t"/>
          <a:lstStyle/>
          <a:p>
            <a:pPr indent="0" marL="0">
              <a:buNone/>
            </a:pPr>
            <a:r>
              <a:rPr lang="en-US" sz="1200" i="1" dirty="0">
                <a:solidFill>
                  <a:schemeClr val="accent5"/>
                </a:solidFill>
              </a:rPr>
              <a:t>Synthetic data: shows the pipeline works, not clinical validity.</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Doctor Dashboard</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A real-time alert, with the reasoning behind it</a:t>
            </a:r>
            <a:endParaRPr lang="en-US" sz="1800" dirty="0"/>
          </a:p>
        </p:txBody>
      </p:sp>
      <p:sp>
        <p:nvSpPr>
          <p:cNvPr id="5" name="Alert banner"/>
          <p:cNvSpPr/>
          <p:nvPr/>
        </p:nvSpPr>
        <p:spPr>
          <a:xfrm>
            <a:off x="548640" y="1783080"/>
            <a:ext cx="11091672" cy="777240"/>
          </a:xfrm>
          <a:prstGeom prst="roundRect">
            <a:avLst>
              <a:gd name="adj" fmla="val 14118"/>
            </a:avLst>
          </a:prstGeom>
          <a:solidFill>
            <a:schemeClr val="accent2"/>
          </a:solidFill>
          <a:ln w="12700">
            <a:solidFill>
              <a:schemeClr val="accent2"/>
            </a:solidFill>
            <a:prstDash val="solid"/>
          </a:ln>
        </p:spPr>
      </p:sp>
      <p:sp>
        <p:nvSpPr>
          <p:cNvPr id="6" name="Alert icon circle"/>
          <p:cNvSpPr/>
          <p:nvPr/>
        </p:nvSpPr>
        <p:spPr>
          <a:xfrm>
            <a:off x="777240" y="1920240"/>
            <a:ext cx="502920" cy="502920"/>
          </a:xfrm>
          <a:prstGeom prst="ellipse">
            <a:avLst/>
          </a:prstGeom>
          <a:solidFill>
            <a:schemeClr val="tx2"/>
          </a:solidFill>
          <a:ln w="12700">
            <a:solidFill>
              <a:schemeClr val="tx2"/>
            </a:solidFill>
            <a:prstDash val="solid"/>
          </a:ln>
        </p:spPr>
      </p:sp>
      <p:pic>
        <p:nvPicPr>
          <p:cNvPr id="7" name="Alert icon" descr="Alert icon">    </p:cNvPr>
          <p:cNvPicPr>
            <a:picLocks noChangeAspect="1"/>
          </p:cNvPicPr>
          <p:nvPr/>
        </p:nvPicPr>
        <p:blipFill>
          <a:blip r:embed="rId1"/>
          <a:stretch>
            <a:fillRect/>
          </a:stretch>
        </p:blipFill>
        <p:spPr>
          <a:xfrm>
            <a:off x="902970" y="2045970"/>
            <a:ext cx="251460" cy="251460"/>
          </a:xfrm>
          <a:prstGeom prst="rect">
            <a:avLst/>
          </a:prstGeom>
        </p:spPr>
      </p:pic>
      <p:sp>
        <p:nvSpPr>
          <p:cNvPr id="8" name="Text 4"/>
          <p:cNvSpPr txBox="1"/>
          <p:nvPr/>
        </p:nvSpPr>
        <p:spPr>
          <a:xfrm>
            <a:off x="1508760" y="1783080"/>
            <a:ext cx="9966960" cy="777240"/>
          </a:xfrm>
          <a:prstGeom prst="rect">
            <a:avLst/>
          </a:prstGeom>
          <a:noFill/>
          <a:ln/>
        </p:spPr>
        <p:txBody>
          <a:bodyPr wrap="square" lIns="0" tIns="0" rIns="0" bIns="0" rtlCol="0" anchor="ctr"/>
          <a:lstStyle/>
          <a:p>
            <a:pPr indent="0" marL="0">
              <a:buNone/>
            </a:pPr>
            <a:r>
              <a:rPr lang="en-US" sz="2200" b="1" dirty="0">
                <a:solidFill>
                  <a:schemeClr val="bg1"/>
                </a:solidFill>
              </a:rPr>
              <a:t>High Risk of Glucose Spike in 120 mins</a:t>
            </a:r>
            <a:pPr indent="0" marL="0">
              <a:buNone/>
            </a:pPr>
            <a:r>
              <a:rPr lang="en-US" sz="1800" dirty="0">
                <a:solidFill>
                  <a:schemeClr val="bg1"/>
                </a:solidFill>
              </a:rPr>
              <a:t>   predicted 192 mg/dL by 09:30  |  risk 92%</a:t>
            </a:r>
            <a:endParaRPr lang="en-US" sz="2200" dirty="0"/>
          </a:p>
        </p:txBody>
      </p:sp>
      <p:sp>
        <p:nvSpPr>
          <p:cNvPr id="9" name="Text 5"/>
          <p:cNvSpPr txBox="1"/>
          <p:nvPr/>
        </p:nvSpPr>
        <p:spPr>
          <a:xfrm>
            <a:off x="548640" y="2743200"/>
            <a:ext cx="7315200" cy="320040"/>
          </a:xfrm>
          <a:prstGeom prst="rect">
            <a:avLst/>
          </a:prstGeom>
          <a:noFill/>
          <a:ln/>
        </p:spPr>
        <p:txBody>
          <a:bodyPr wrap="square" lIns="0" tIns="0" rIns="0" bIns="0" rtlCol="0" anchor="t"/>
          <a:lstStyle/>
          <a:p>
            <a:pPr indent="0" marL="0">
              <a:buNone/>
            </a:pPr>
            <a:r>
              <a:rPr lang="en-US" sz="1500" b="1" dirty="0">
                <a:solidFill>
                  <a:schemeClr val="tx2"/>
                </a:solidFill>
              </a:rPr>
              <a:t>CGM glucose (mg/dL), last 12 h and 2-hour forecast</a:t>
            </a:r>
            <a:endParaRPr lang="en-US" sz="1500" dirty="0"/>
          </a:p>
        </p:txBody>
      </p:sp>
      <p:graphicFrame>
        <p:nvGraphicFramePr>
          <p:cNvPr id="10" name="Dashboard glucose chart" descr=""/>
          <p:cNvGraphicFramePr/>
          <p:nvPr/>
        </p:nvGraphicFramePr>
        <p:xfrm>
          <a:off x="548640" y="3063240"/>
          <a:ext cx="7315200" cy="3108960"/>
        </p:xfrm>
        <a:graphic xmlns:a="http://schemas.openxmlformats.org/drawingml/2006/main">
          <a:graphicData uri="http://schemas.openxmlformats.org/drawingml/2006/chart">
            <c:chart xmlns:c="http://schemas.openxmlformats.org/drawingml/2006/chart" r:id="rId2"/>
          </a:graphicData>
        </a:graphic>
      </p:graphicFrame>
      <p:sp>
        <p:nvSpPr>
          <p:cNvPr id="11" name="Patient card"/>
          <p:cNvSpPr/>
          <p:nvPr/>
        </p:nvSpPr>
        <p:spPr>
          <a:xfrm>
            <a:off x="8138160" y="2743200"/>
            <a:ext cx="3502152" cy="3429000"/>
          </a:xfrm>
          <a:prstGeom prst="roundRect">
            <a:avLst>
              <a:gd name="adj" fmla="val 3200"/>
            </a:avLst>
          </a:prstGeom>
          <a:solidFill>
            <a:schemeClr val="bg2"/>
          </a:solidFill>
          <a:ln w="12700">
            <a:solidFill>
              <a:schemeClr val="bg2"/>
            </a:solidFill>
            <a:prstDash val="solid"/>
          </a:ln>
        </p:spPr>
      </p:sp>
      <p:sp>
        <p:nvSpPr>
          <p:cNvPr id="12" name="Text 7"/>
          <p:cNvSpPr txBox="1"/>
          <p:nvPr/>
        </p:nvSpPr>
        <p:spPr>
          <a:xfrm>
            <a:off x="8412480" y="2926080"/>
            <a:ext cx="301752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Patient DT-0032</a:t>
            </a:r>
            <a:endParaRPr lang="en-US" sz="2000" dirty="0"/>
          </a:p>
        </p:txBody>
      </p:sp>
      <p:sp>
        <p:nvSpPr>
          <p:cNvPr id="13" name="Text 8"/>
          <p:cNvSpPr txBox="1"/>
          <p:nvPr/>
        </p:nvSpPr>
        <p:spPr>
          <a:xfrm>
            <a:off x="8412480" y="3429000"/>
            <a:ext cx="301752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50 y, Male, Chennai</a:t>
            </a:r>
            <a:endParaRPr lang="en-US" sz="1400" dirty="0"/>
          </a:p>
          <a:p>
            <a:pPr marL="342900" indent="-342900">
              <a:spcAft>
                <a:spcPts val="500"/>
              </a:spcAft>
              <a:buSzPct val="100000"/>
              <a:buChar char="•"/>
            </a:pPr>
            <a:r>
              <a:rPr lang="en-US" sz="1400" dirty="0">
                <a:solidFill>
                  <a:schemeClr val="tx1"/>
                </a:solidFill>
              </a:rPr>
              <a:t>HbA1c 9.4%  |  BMI 35.6</a:t>
            </a:r>
            <a:endParaRPr lang="en-US" sz="1400" dirty="0"/>
          </a:p>
          <a:p>
            <a:pPr marL="342900" indent="-342900">
              <a:spcAft>
                <a:spcPts val="500"/>
              </a:spcAft>
              <a:buSzPct val="100000"/>
              <a:buChar char="•"/>
            </a:pPr>
            <a:r>
              <a:rPr lang="en-US" sz="1400" dirty="0">
                <a:solidFill>
                  <a:schemeClr val="tx1"/>
                </a:solidFill>
              </a:rPr>
              <a:t>Metformin + Basal Insulin</a:t>
            </a:r>
            <a:endParaRPr lang="en-US" sz="1400" dirty="0"/>
          </a:p>
          <a:p>
            <a:pPr marL="342900" indent="-342900">
              <a:spcAft>
                <a:spcPts val="500"/>
              </a:spcAft>
              <a:buSzPct val="100000"/>
              <a:buChar char="•"/>
            </a:pPr>
            <a:r>
              <a:rPr lang="en-US" sz="1400" dirty="0">
                <a:solidFill>
                  <a:schemeClr val="tx1"/>
                </a:solidFill>
              </a:rPr>
              <a:t>South Indian rice-based diet</a:t>
            </a:r>
            <a:endParaRPr lang="en-US" sz="1400" dirty="0"/>
          </a:p>
        </p:txBody>
      </p:sp>
      <p:sp>
        <p:nvSpPr>
          <p:cNvPr id="14" name="Text 9"/>
          <p:cNvSpPr txBox="1"/>
          <p:nvPr/>
        </p:nvSpPr>
        <p:spPr>
          <a:xfrm>
            <a:off x="8412480" y="5029200"/>
            <a:ext cx="3017520" cy="502920"/>
          </a:xfrm>
          <a:prstGeom prst="rect">
            <a:avLst/>
          </a:prstGeom>
          <a:noFill/>
          <a:ln/>
        </p:spPr>
        <p:txBody>
          <a:bodyPr wrap="square" lIns="0" tIns="0" rIns="0" bIns="0" rtlCol="0" anchor="t"/>
          <a:lstStyle/>
          <a:p>
            <a:pPr indent="0" marL="0">
              <a:buNone/>
            </a:pPr>
            <a:r>
              <a:rPr lang="en-US" sz="1300" dirty="0">
                <a:solidFill>
                  <a:schemeClr val="accent5"/>
                </a:solidFill>
              </a:rPr>
              <a:t>Tabs: cohort overview, digital twin, what-if, model and methods</a:t>
            </a:r>
            <a:endParaRPr lang="en-US" sz="1300" dirty="0"/>
          </a:p>
        </p:txBody>
      </p:sp>
      <p:sp>
        <p:nvSpPr>
          <p:cNvPr id="15" name="Text 10"/>
          <p:cNvSpPr txBox="1"/>
          <p:nvPr/>
        </p:nvSpPr>
        <p:spPr>
          <a:xfrm>
            <a:off x="8412480" y="5577840"/>
            <a:ext cx="3017520" cy="457200"/>
          </a:xfrm>
          <a:prstGeom prst="rect">
            <a:avLst/>
          </a:prstGeom>
          <a:noFill/>
          <a:ln/>
        </p:spPr>
        <p:txBody>
          <a:bodyPr wrap="square" lIns="0" tIns="0" rIns="0" bIns="0" rtlCol="0" anchor="t"/>
          <a:lstStyle/>
          <a:p>
            <a:pPr indent="0" marL="0">
              <a:buNone/>
            </a:pPr>
            <a:r>
              <a:rPr lang="en-US" sz="1300" dirty="0">
                <a:solidFill>
                  <a:schemeClr val="accent5"/>
                </a:solidFill>
              </a:rPr>
              <a:t>Replay clock streams data in 15-minute steps</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What-If Simulator</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Test a plan on the twin before prescribing it</a:t>
            </a:r>
            <a:endParaRPr lang="en-US" sz="1800" dirty="0"/>
          </a:p>
        </p:txBody>
      </p:sp>
      <p:sp>
        <p:nvSpPr>
          <p:cNvPr id="5" name="Text 2"/>
          <p:cNvSpPr txBox="1"/>
          <p:nvPr/>
        </p:nvSpPr>
        <p:spPr>
          <a:xfrm>
            <a:off x="548640" y="1828800"/>
            <a:ext cx="6949440" cy="320040"/>
          </a:xfrm>
          <a:prstGeom prst="rect">
            <a:avLst/>
          </a:prstGeom>
          <a:noFill/>
          <a:ln/>
        </p:spPr>
        <p:txBody>
          <a:bodyPr wrap="square" lIns="0" tIns="0" rIns="0" bIns="0" rtlCol="0" anchor="t"/>
          <a:lstStyle/>
          <a:p>
            <a:pPr indent="0" marL="0">
              <a:buNone/>
            </a:pPr>
            <a:r>
              <a:rPr lang="en-US" sz="1500" b="1" dirty="0">
                <a:solidFill>
                  <a:schemeClr val="tx2"/>
                </a:solidFill>
              </a:rPr>
              <a:t>Next 24 hours of glucose (mg/dL)</a:t>
            </a:r>
            <a:endParaRPr lang="en-US" sz="1500" dirty="0"/>
          </a:p>
        </p:txBody>
      </p:sp>
      <p:graphicFrame>
        <p:nvGraphicFramePr>
          <p:cNvPr id="6" name="What-if chart" descr=""/>
          <p:cNvGraphicFramePr/>
          <p:nvPr/>
        </p:nvGraphicFramePr>
        <p:xfrm>
          <a:off x="548640" y="2148840"/>
          <a:ext cx="6949440" cy="35204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806440"/>
            <a:ext cx="6949440" cy="411480"/>
          </a:xfrm>
          <a:prstGeom prst="rect">
            <a:avLst/>
          </a:prstGeom>
          <a:noFill/>
          <a:ln/>
        </p:spPr>
        <p:txBody>
          <a:bodyPr wrap="square" lIns="0" tIns="0" rIns="0" bIns="0" rtlCol="0" anchor="t"/>
          <a:lstStyle/>
          <a:p>
            <a:pPr indent="0" marL="0">
              <a:buNone/>
            </a:pPr>
            <a:r>
              <a:rPr lang="en-US" sz="1200" i="1" dirty="0">
                <a:solidFill>
                  <a:schemeClr val="accent5"/>
                </a:solidFill>
              </a:rPr>
              <a:t>Twin calibrated to this patient's last 3 days of CGM (RMSE 8.2 mg/dL). Effect sizes are illustrative.</a:t>
            </a:r>
            <a:endParaRPr lang="en-US" sz="1200" dirty="0"/>
          </a:p>
        </p:txBody>
      </p:sp>
      <p:sp>
        <p:nvSpPr>
          <p:cNvPr id="8" name="Scenario card"/>
          <p:cNvSpPr/>
          <p:nvPr/>
        </p:nvSpPr>
        <p:spPr>
          <a:xfrm>
            <a:off x="7772400" y="1828800"/>
            <a:ext cx="3867912" cy="1143000"/>
          </a:xfrm>
          <a:prstGeom prst="roundRect">
            <a:avLst>
              <a:gd name="adj" fmla="val 9600"/>
            </a:avLst>
          </a:prstGeom>
          <a:solidFill>
            <a:schemeClr val="tx2"/>
          </a:solidFill>
          <a:ln w="12700">
            <a:solidFill>
              <a:schemeClr val="tx2"/>
            </a:solidFill>
            <a:prstDash val="solid"/>
          </a:ln>
        </p:spPr>
      </p:sp>
      <p:sp>
        <p:nvSpPr>
          <p:cNvPr id="9" name="Text 5"/>
          <p:cNvSpPr txBox="1"/>
          <p:nvPr/>
        </p:nvSpPr>
        <p:spPr>
          <a:xfrm>
            <a:off x="8046720" y="1965960"/>
            <a:ext cx="3383280" cy="274320"/>
          </a:xfrm>
          <a:prstGeom prst="rect">
            <a:avLst/>
          </a:prstGeom>
          <a:noFill/>
          <a:ln/>
        </p:spPr>
        <p:txBody>
          <a:bodyPr wrap="square" lIns="0" tIns="0" rIns="0" bIns="0" rtlCol="0" anchor="t"/>
          <a:lstStyle/>
          <a:p>
            <a:pPr indent="0" marL="0">
              <a:buNone/>
            </a:pPr>
            <a:r>
              <a:rPr lang="en-US" sz="1200" b="1" spc="200" kern="0" dirty="0">
                <a:solidFill>
                  <a:srgbClr val="8FD3D9"/>
                </a:solidFill>
              </a:rPr>
              <a:t>SCENARIO</a:t>
            </a:r>
            <a:endParaRPr lang="en-US" sz="1200" dirty="0"/>
          </a:p>
        </p:txBody>
      </p:sp>
      <p:sp>
        <p:nvSpPr>
          <p:cNvPr id="10" name="Text 6"/>
          <p:cNvSpPr txBox="1"/>
          <p:nvPr/>
        </p:nvSpPr>
        <p:spPr>
          <a:xfrm>
            <a:off x="8046720" y="2286000"/>
            <a:ext cx="3383280" cy="640080"/>
          </a:xfrm>
          <a:prstGeom prst="rect">
            <a:avLst/>
          </a:prstGeom>
          <a:noFill/>
          <a:ln/>
        </p:spPr>
        <p:txBody>
          <a:bodyPr wrap="square" lIns="0" tIns="0" rIns="0" bIns="0" rtlCol="0" anchor="t"/>
          <a:lstStyle/>
          <a:p>
            <a:pPr indent="0" marL="0">
              <a:buNone/>
            </a:pPr>
            <a:r>
              <a:rPr lang="en-US" sz="1600" dirty="0">
                <a:solidFill>
                  <a:schemeClr val="bg1"/>
                </a:solidFill>
              </a:rPr>
              <a:t>Carbs at 70% of usual, plus a 20-minute walk after each meal</a:t>
            </a:r>
            <a:endParaRPr lang="en-US" sz="1600" dirty="0"/>
          </a:p>
        </p:txBody>
      </p:sp>
      <p:sp>
        <p:nvSpPr>
          <p:cNvPr id="11" name="Outcome 1"/>
          <p:cNvSpPr/>
          <p:nvPr/>
        </p:nvSpPr>
        <p:spPr>
          <a:xfrm>
            <a:off x="7772400" y="3200400"/>
            <a:ext cx="3867912" cy="868680"/>
          </a:xfrm>
          <a:prstGeom prst="roundRect">
            <a:avLst>
              <a:gd name="adj" fmla="val 12632"/>
            </a:avLst>
          </a:prstGeom>
          <a:solidFill>
            <a:schemeClr val="bg2"/>
          </a:solidFill>
          <a:ln w="12700">
            <a:solidFill>
              <a:schemeClr val="bg2"/>
            </a:solidFill>
            <a:prstDash val="solid"/>
          </a:ln>
        </p:spPr>
      </p:sp>
      <p:sp>
        <p:nvSpPr>
          <p:cNvPr id="12" name="Text 8"/>
          <p:cNvSpPr txBox="1"/>
          <p:nvPr/>
        </p:nvSpPr>
        <p:spPr>
          <a:xfrm>
            <a:off x="8046720" y="3291840"/>
            <a:ext cx="3383280" cy="274320"/>
          </a:xfrm>
          <a:prstGeom prst="rect">
            <a:avLst/>
          </a:prstGeom>
          <a:noFill/>
          <a:ln/>
        </p:spPr>
        <p:txBody>
          <a:bodyPr wrap="square" lIns="0" tIns="0" rIns="0" bIns="0" rtlCol="0" anchor="t"/>
          <a:lstStyle/>
          <a:p>
            <a:pPr indent="0" marL="0">
              <a:buNone/>
            </a:pPr>
            <a:r>
              <a:rPr lang="en-US" sz="1300" dirty="0">
                <a:solidFill>
                  <a:schemeClr val="accent5"/>
                </a:solidFill>
              </a:rPr>
              <a:t>Time above 180 mg/dL</a:t>
            </a:r>
            <a:endParaRPr lang="en-US" sz="1300" dirty="0"/>
          </a:p>
        </p:txBody>
      </p:sp>
      <p:sp>
        <p:nvSpPr>
          <p:cNvPr id="13" name="Text 9"/>
          <p:cNvSpPr txBox="1"/>
          <p:nvPr/>
        </p:nvSpPr>
        <p:spPr>
          <a:xfrm>
            <a:off x="8046720" y="3566160"/>
            <a:ext cx="3383280" cy="41148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4.8 h  →  1.0 h</a:t>
            </a:r>
            <a:endParaRPr lang="en-US" sz="2400" dirty="0"/>
          </a:p>
        </p:txBody>
      </p:sp>
      <p:sp>
        <p:nvSpPr>
          <p:cNvPr id="14" name="Outcome 2"/>
          <p:cNvSpPr/>
          <p:nvPr/>
        </p:nvSpPr>
        <p:spPr>
          <a:xfrm>
            <a:off x="7772400" y="4206240"/>
            <a:ext cx="3867912" cy="868680"/>
          </a:xfrm>
          <a:prstGeom prst="roundRect">
            <a:avLst>
              <a:gd name="adj" fmla="val 12632"/>
            </a:avLst>
          </a:prstGeom>
          <a:solidFill>
            <a:schemeClr val="bg2"/>
          </a:solidFill>
          <a:ln w="12700">
            <a:solidFill>
              <a:schemeClr val="bg2"/>
            </a:solidFill>
            <a:prstDash val="solid"/>
          </a:ln>
        </p:spPr>
      </p:sp>
      <p:sp>
        <p:nvSpPr>
          <p:cNvPr id="15" name="Text 11"/>
          <p:cNvSpPr txBox="1"/>
          <p:nvPr/>
        </p:nvSpPr>
        <p:spPr>
          <a:xfrm>
            <a:off x="8046720" y="4297680"/>
            <a:ext cx="3383280" cy="274320"/>
          </a:xfrm>
          <a:prstGeom prst="rect">
            <a:avLst/>
          </a:prstGeom>
          <a:noFill/>
          <a:ln/>
        </p:spPr>
        <p:txBody>
          <a:bodyPr wrap="square" lIns="0" tIns="0" rIns="0" bIns="0" rtlCol="0" anchor="t"/>
          <a:lstStyle/>
          <a:p>
            <a:pPr indent="0" marL="0">
              <a:buNone/>
            </a:pPr>
            <a:r>
              <a:rPr lang="en-US" sz="1300" dirty="0">
                <a:solidFill>
                  <a:schemeClr val="accent5"/>
                </a:solidFill>
              </a:rPr>
              <a:t>Peak glucose</a:t>
            </a:r>
            <a:endParaRPr lang="en-US" sz="1300" dirty="0"/>
          </a:p>
        </p:txBody>
      </p:sp>
      <p:sp>
        <p:nvSpPr>
          <p:cNvPr id="16" name="Text 12"/>
          <p:cNvSpPr txBox="1"/>
          <p:nvPr/>
        </p:nvSpPr>
        <p:spPr>
          <a:xfrm>
            <a:off x="8046720" y="4572000"/>
            <a:ext cx="3383280" cy="41148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232  →  189 mg/dL</a:t>
            </a:r>
            <a:endParaRPr lang="en-US" sz="2400" dirty="0"/>
          </a:p>
        </p:txBody>
      </p:sp>
      <p:sp>
        <p:nvSpPr>
          <p:cNvPr id="17" name="Outcome 3"/>
          <p:cNvSpPr/>
          <p:nvPr/>
        </p:nvSpPr>
        <p:spPr>
          <a:xfrm>
            <a:off x="7772400" y="5212080"/>
            <a:ext cx="3867912" cy="868680"/>
          </a:xfrm>
          <a:prstGeom prst="roundRect">
            <a:avLst>
              <a:gd name="adj" fmla="val 12632"/>
            </a:avLst>
          </a:prstGeom>
          <a:solidFill>
            <a:schemeClr val="bg2"/>
          </a:solidFill>
          <a:ln w="12700">
            <a:solidFill>
              <a:schemeClr val="bg2"/>
            </a:solidFill>
            <a:prstDash val="solid"/>
          </a:ln>
        </p:spPr>
      </p:sp>
      <p:sp>
        <p:nvSpPr>
          <p:cNvPr id="18" name="Text 14"/>
          <p:cNvSpPr txBox="1"/>
          <p:nvPr/>
        </p:nvSpPr>
        <p:spPr>
          <a:xfrm>
            <a:off x="8046720" y="5303520"/>
            <a:ext cx="3383280" cy="274320"/>
          </a:xfrm>
          <a:prstGeom prst="rect">
            <a:avLst/>
          </a:prstGeom>
          <a:noFill/>
          <a:ln/>
        </p:spPr>
        <p:txBody>
          <a:bodyPr wrap="square" lIns="0" tIns="0" rIns="0" bIns="0" rtlCol="0" anchor="t"/>
          <a:lstStyle/>
          <a:p>
            <a:pPr indent="0" marL="0">
              <a:buNone/>
            </a:pPr>
            <a:r>
              <a:rPr lang="en-US" sz="1300" dirty="0">
                <a:solidFill>
                  <a:schemeClr val="accent5"/>
                </a:solidFill>
              </a:rPr>
              <a:t>Time in range (70 to 180)</a:t>
            </a:r>
            <a:endParaRPr lang="en-US" sz="1300" dirty="0"/>
          </a:p>
        </p:txBody>
      </p:sp>
      <p:sp>
        <p:nvSpPr>
          <p:cNvPr id="19" name="Text 15"/>
          <p:cNvSpPr txBox="1"/>
          <p:nvPr/>
        </p:nvSpPr>
        <p:spPr>
          <a:xfrm>
            <a:off x="8046720" y="5577840"/>
            <a:ext cx="3383280" cy="41148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80%  →  96%</a:t>
            </a:r>
            <a:endParaRPr lang="en-US" sz="2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2"/>
                </a:solidFill>
              </a:rPr>
              <a:t>Impact, Safety and Roadmap</a:t>
            </a:r>
            <a:endParaRPr lang="en-US" sz="3600" dirty="0"/>
          </a:p>
        </p:txBody>
      </p:sp>
      <p:sp>
        <p:nvSpPr>
          <p:cNvPr id="3" name="Text 1"/>
          <p:cNvSpPr/>
          <p:nvPr>
            <p:ph idx="102" type="body" hasCustomPrompt="1"/>
          </p:nvPr>
        </p:nvSpPr>
        <p:spPr>
          <a:xfrm>
            <a:off x="548640" y="1097280"/>
            <a:ext cx="11091672" cy="457200"/>
          </a:xfrm>
          <a:prstGeom prst="rect">
            <a:avLst/>
          </a:prstGeom>
          <a:noFill/>
          <a:ln/>
        </p:spPr>
        <p:txBody>
          <a:bodyPr wrap="square" lIns="0" tIns="0" rIns="0" bIns="0" rtlCol="0" anchor="t"/>
          <a:lstStyle/>
          <a:p>
            <a:pPr indent="0" marL="0">
              <a:buNone/>
            </a:pPr>
            <a:r>
              <a:rPr lang="en-US" sz="1800" dirty="0">
                <a:solidFill>
                  <a:schemeClr val="accent5"/>
                </a:solidFill>
              </a:rPr>
              <a:t>Useful today as a prototype, designed to grow into a clinical tool</a:t>
            </a:r>
            <a:endParaRPr lang="en-US" sz="1800" dirty="0"/>
          </a:p>
        </p:txBody>
      </p:sp>
      <p:sp>
        <p:nvSpPr>
          <p:cNvPr id="5" name="Closing card 1"/>
          <p:cNvSpPr/>
          <p:nvPr/>
        </p:nvSpPr>
        <p:spPr>
          <a:xfrm>
            <a:off x="548640" y="1920240"/>
            <a:ext cx="3520440" cy="4114800"/>
          </a:xfrm>
          <a:prstGeom prst="roundRect">
            <a:avLst>
              <a:gd name="adj" fmla="val 3117"/>
            </a:avLst>
          </a:prstGeom>
          <a:solidFill>
            <a:schemeClr val="bg2"/>
          </a:solidFill>
          <a:ln w="12700">
            <a:solidFill>
              <a:schemeClr val="bg2"/>
            </a:solidFill>
            <a:prstDash val="solid"/>
          </a:ln>
        </p:spPr>
      </p:sp>
      <p:sp>
        <p:nvSpPr>
          <p:cNvPr id="6" name="Impact icon circle"/>
          <p:cNvSpPr/>
          <p:nvPr/>
        </p:nvSpPr>
        <p:spPr>
          <a:xfrm>
            <a:off x="914400" y="2240280"/>
            <a:ext cx="777240" cy="777240"/>
          </a:xfrm>
          <a:prstGeom prst="ellipse">
            <a:avLst/>
          </a:prstGeom>
          <a:solidFill>
            <a:schemeClr val="accent1"/>
          </a:solidFill>
          <a:ln w="12700">
            <a:solidFill>
              <a:schemeClr val="accent1"/>
            </a:solidFill>
            <a:prstDash val="solid"/>
          </a:ln>
        </p:spPr>
      </p:sp>
      <p:pic>
        <p:nvPicPr>
          <p:cNvPr id="7" name="Impact icon" descr="Impact icon">    </p:cNvPr>
          <p:cNvPicPr>
            <a:picLocks noChangeAspect="1"/>
          </p:cNvPicPr>
          <p:nvPr/>
        </p:nvPicPr>
        <p:blipFill>
          <a:blip r:embed="rId1"/>
          <a:stretch>
            <a:fillRect/>
          </a:stretch>
        </p:blipFill>
        <p:spPr>
          <a:xfrm>
            <a:off x="1108710" y="2434590"/>
            <a:ext cx="388620" cy="388620"/>
          </a:xfrm>
          <a:prstGeom prst="rect">
            <a:avLst/>
          </a:prstGeom>
        </p:spPr>
      </p:pic>
      <p:sp>
        <p:nvSpPr>
          <p:cNvPr id="8" name="Text 4"/>
          <p:cNvSpPr txBox="1"/>
          <p:nvPr/>
        </p:nvSpPr>
        <p:spPr>
          <a:xfrm>
            <a:off x="914400" y="32004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Impact</a:t>
            </a:r>
            <a:endParaRPr lang="en-US" sz="2400" dirty="0"/>
          </a:p>
        </p:txBody>
      </p:sp>
      <p:sp>
        <p:nvSpPr>
          <p:cNvPr id="9" name="Text 5"/>
          <p:cNvSpPr txBox="1"/>
          <p:nvPr/>
        </p:nvSpPr>
        <p:spPr>
          <a:xfrm>
            <a:off x="914400" y="3840480"/>
            <a:ext cx="2834640"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Act before spikes happen</a:t>
            </a:r>
            <a:endParaRPr lang="en-US" sz="1600" dirty="0"/>
          </a:p>
          <a:p>
            <a:pPr marL="342900" indent="-342900">
              <a:spcAft>
                <a:spcPts val="1000"/>
              </a:spcAft>
              <a:buSzPct val="100000"/>
              <a:buChar char="•"/>
            </a:pPr>
            <a:r>
              <a:rPr lang="en-US" sz="1600" dirty="0">
                <a:solidFill>
                  <a:schemeClr val="tx1"/>
                </a:solidFill>
              </a:rPr>
              <a:t>Fewer long-term complications</a:t>
            </a:r>
            <a:endParaRPr lang="en-US" sz="1600" dirty="0"/>
          </a:p>
          <a:p>
            <a:pPr marL="342900" indent="-342900">
              <a:spcAft>
                <a:spcPts val="1000"/>
              </a:spcAft>
              <a:buSzPct val="100000"/>
              <a:buChar char="•"/>
            </a:pPr>
            <a:r>
              <a:rPr lang="en-US" sz="1600" dirty="0">
                <a:solidFill>
                  <a:schemeClr val="tx1"/>
                </a:solidFill>
              </a:rPr>
              <a:t>Scalable follow-up between visits</a:t>
            </a:r>
            <a:endParaRPr lang="en-US" sz="1600" dirty="0"/>
          </a:p>
        </p:txBody>
      </p:sp>
      <p:sp>
        <p:nvSpPr>
          <p:cNvPr id="10" name="Closing card 2"/>
          <p:cNvSpPr/>
          <p:nvPr/>
        </p:nvSpPr>
        <p:spPr>
          <a:xfrm>
            <a:off x="4334256" y="1920240"/>
            <a:ext cx="3520440" cy="4114800"/>
          </a:xfrm>
          <a:prstGeom prst="roundRect">
            <a:avLst>
              <a:gd name="adj" fmla="val 3117"/>
            </a:avLst>
          </a:prstGeom>
          <a:solidFill>
            <a:schemeClr val="bg2"/>
          </a:solidFill>
          <a:ln w="12700">
            <a:solidFill>
              <a:schemeClr val="bg2"/>
            </a:solidFill>
            <a:prstDash val="solid"/>
          </a:ln>
        </p:spPr>
      </p:sp>
      <p:sp>
        <p:nvSpPr>
          <p:cNvPr id="11" name="Safety and ethics icon circle"/>
          <p:cNvSpPr/>
          <p:nvPr/>
        </p:nvSpPr>
        <p:spPr>
          <a:xfrm>
            <a:off x="4700016" y="2240280"/>
            <a:ext cx="777240" cy="777240"/>
          </a:xfrm>
          <a:prstGeom prst="ellipse">
            <a:avLst/>
          </a:prstGeom>
          <a:solidFill>
            <a:schemeClr val="accent1"/>
          </a:solidFill>
          <a:ln w="12700">
            <a:solidFill>
              <a:schemeClr val="accent1"/>
            </a:solidFill>
            <a:prstDash val="solid"/>
          </a:ln>
        </p:spPr>
      </p:sp>
      <p:pic>
        <p:nvPicPr>
          <p:cNvPr id="12" name="Safety and ethics icon" descr="Safety and ethics icon">    </p:cNvPr>
          <p:cNvPicPr>
            <a:picLocks noChangeAspect="1"/>
          </p:cNvPicPr>
          <p:nvPr/>
        </p:nvPicPr>
        <p:blipFill>
          <a:blip r:embed="rId2"/>
          <a:stretch>
            <a:fillRect/>
          </a:stretch>
        </p:blipFill>
        <p:spPr>
          <a:xfrm>
            <a:off x="4894326" y="2434590"/>
            <a:ext cx="388620" cy="388620"/>
          </a:xfrm>
          <a:prstGeom prst="rect">
            <a:avLst/>
          </a:prstGeom>
        </p:spPr>
      </p:pic>
      <p:sp>
        <p:nvSpPr>
          <p:cNvPr id="13" name="Text 8"/>
          <p:cNvSpPr txBox="1"/>
          <p:nvPr/>
        </p:nvSpPr>
        <p:spPr>
          <a:xfrm>
            <a:off x="4700016" y="32004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Safety and ethics</a:t>
            </a:r>
            <a:endParaRPr lang="en-US" sz="2400" dirty="0"/>
          </a:p>
        </p:txBody>
      </p:sp>
      <p:sp>
        <p:nvSpPr>
          <p:cNvPr id="14" name="Text 9"/>
          <p:cNvSpPr txBox="1"/>
          <p:nvPr/>
        </p:nvSpPr>
        <p:spPr>
          <a:xfrm>
            <a:off x="4700016" y="3840480"/>
            <a:ext cx="2834640"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100% synthetic, anonymised data</a:t>
            </a:r>
            <a:endParaRPr lang="en-US" sz="1600" dirty="0"/>
          </a:p>
          <a:p>
            <a:pPr marL="342900" indent="-342900">
              <a:spcAft>
                <a:spcPts val="1000"/>
              </a:spcAft>
              <a:buSzPct val="100000"/>
              <a:buChar char="•"/>
            </a:pPr>
            <a:r>
              <a:rPr lang="en-US" sz="1600" dirty="0">
                <a:solidFill>
                  <a:schemeClr val="tx1"/>
                </a:solidFill>
              </a:rPr>
              <a:t>Decision support, not decision making</a:t>
            </a:r>
            <a:endParaRPr lang="en-US" sz="1600" dirty="0"/>
          </a:p>
          <a:p>
            <a:pPr marL="342900" indent="-342900">
              <a:spcAft>
                <a:spcPts val="1000"/>
              </a:spcAft>
              <a:buSzPct val="100000"/>
              <a:buChar char="•"/>
            </a:pPr>
            <a:r>
              <a:rPr lang="en-US" sz="1600" dirty="0">
                <a:solidFill>
                  <a:schemeClr val="tx1"/>
                </a:solidFill>
              </a:rPr>
              <a:t>Explainable alerts, tested on unseen patients</a:t>
            </a:r>
            <a:endParaRPr lang="en-US" sz="1600" dirty="0"/>
          </a:p>
        </p:txBody>
      </p:sp>
      <p:sp>
        <p:nvSpPr>
          <p:cNvPr id="15" name="Closing card 3"/>
          <p:cNvSpPr/>
          <p:nvPr/>
        </p:nvSpPr>
        <p:spPr>
          <a:xfrm>
            <a:off x="8119872" y="1920240"/>
            <a:ext cx="3520440" cy="4114800"/>
          </a:xfrm>
          <a:prstGeom prst="roundRect">
            <a:avLst>
              <a:gd name="adj" fmla="val 3117"/>
            </a:avLst>
          </a:prstGeom>
          <a:solidFill>
            <a:schemeClr val="bg2"/>
          </a:solidFill>
          <a:ln w="12700">
            <a:solidFill>
              <a:schemeClr val="bg2"/>
            </a:solidFill>
            <a:prstDash val="solid"/>
          </a:ln>
        </p:spPr>
      </p:sp>
      <p:sp>
        <p:nvSpPr>
          <p:cNvPr id="16" name="Roadmap icon circle"/>
          <p:cNvSpPr/>
          <p:nvPr/>
        </p:nvSpPr>
        <p:spPr>
          <a:xfrm>
            <a:off x="8485632" y="2240280"/>
            <a:ext cx="777240" cy="777240"/>
          </a:xfrm>
          <a:prstGeom prst="ellipse">
            <a:avLst/>
          </a:prstGeom>
          <a:solidFill>
            <a:schemeClr val="accent2"/>
          </a:solidFill>
          <a:ln w="12700">
            <a:solidFill>
              <a:schemeClr val="accent2"/>
            </a:solidFill>
            <a:prstDash val="solid"/>
          </a:ln>
        </p:spPr>
      </p:sp>
      <p:pic>
        <p:nvPicPr>
          <p:cNvPr id="17" name="Roadmap icon" descr="Roadmap icon">    </p:cNvPr>
          <p:cNvPicPr>
            <a:picLocks noChangeAspect="1"/>
          </p:cNvPicPr>
          <p:nvPr/>
        </p:nvPicPr>
        <p:blipFill>
          <a:blip r:embed="rId3"/>
          <a:stretch>
            <a:fillRect/>
          </a:stretch>
        </p:blipFill>
        <p:spPr>
          <a:xfrm>
            <a:off x="8679942" y="2434590"/>
            <a:ext cx="388620" cy="388620"/>
          </a:xfrm>
          <a:prstGeom prst="rect">
            <a:avLst/>
          </a:prstGeom>
        </p:spPr>
      </p:pic>
      <p:sp>
        <p:nvSpPr>
          <p:cNvPr id="18" name="Text 12"/>
          <p:cNvSpPr txBox="1"/>
          <p:nvPr/>
        </p:nvSpPr>
        <p:spPr>
          <a:xfrm>
            <a:off x="8485632" y="32004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Roadmap</a:t>
            </a:r>
            <a:endParaRPr lang="en-US" sz="2400" dirty="0"/>
          </a:p>
        </p:txBody>
      </p:sp>
      <p:sp>
        <p:nvSpPr>
          <p:cNvPr id="19" name="Text 13"/>
          <p:cNvSpPr txBox="1"/>
          <p:nvPr/>
        </p:nvSpPr>
        <p:spPr>
          <a:xfrm>
            <a:off x="8485632" y="3840480"/>
            <a:ext cx="2834640"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Real CGM and wearable ingestion</a:t>
            </a:r>
            <a:endParaRPr lang="en-US" sz="1600" dirty="0"/>
          </a:p>
          <a:p>
            <a:pPr marL="342900" indent="-342900">
              <a:spcAft>
                <a:spcPts val="1000"/>
              </a:spcAft>
              <a:buSzPct val="100000"/>
              <a:buChar char="•"/>
            </a:pPr>
            <a:r>
              <a:rPr lang="en-US" sz="1600" dirty="0">
                <a:solidFill>
                  <a:schemeClr val="tx1"/>
                </a:solidFill>
              </a:rPr>
              <a:t>FHIR and ABDM integration</a:t>
            </a:r>
            <a:endParaRPr lang="en-US" sz="1600" dirty="0"/>
          </a:p>
          <a:p>
            <a:pPr marL="342900" indent="-342900">
              <a:spcAft>
                <a:spcPts val="1000"/>
              </a:spcAft>
              <a:buSzPct val="100000"/>
              <a:buChar char="•"/>
            </a:pPr>
            <a:r>
              <a:rPr lang="en-US" sz="1600" dirty="0">
                <a:solidFill>
                  <a:schemeClr val="tx1"/>
                </a:solidFill>
              </a:rPr>
              <a:t>Clinical validation and a multilingual patient app</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lIns="0" tIns="0" rIns="0" bIns="0" rtlCol="0" anchor="b"/>
          <a:lstStyle/>
          <a:p>
            <a:pPr algn="l" indent="0" marL="0">
              <a:buNone/>
            </a:pPr>
            <a:r>
              <a:rPr lang="en-US" sz="6000" b="1" dirty="0">
                <a:solidFill>
                  <a:schemeClr val="bg1"/>
                </a:solidFill>
              </a:rPr>
              <a:t>Thank you</a:t>
            </a:r>
            <a:endParaRPr lang="en-US" sz="6000" dirty="0"/>
          </a:p>
        </p:txBody>
      </p:sp>
      <p:sp>
        <p:nvSpPr>
          <p:cNvPr id="3" name="Text 0"/>
          <p:cNvSpPr/>
          <p:nvPr>
            <p:ph idx="101" type="body" hasCustomPrompt="1"/>
          </p:nvPr>
        </p:nvSpPr>
        <p:spPr>
          <a:xfrm>
            <a:off x="731520" y="3429000"/>
            <a:ext cx="5852160" cy="914400"/>
          </a:xfrm>
          <a:prstGeom prst="rect">
            <a:avLst/>
          </a:prstGeom>
          <a:noFill/>
          <a:ln/>
        </p:spPr>
        <p:txBody>
          <a:bodyPr wrap="square" lIns="0" tIns="0" rIns="0" bIns="0" rtlCol="0" anchor="t"/>
          <a:lstStyle/>
          <a:p>
            <a:pPr indent="0" marL="0">
              <a:buNone/>
            </a:pPr>
            <a:r>
              <a:rPr lang="en-US" sz="2400" dirty="0">
                <a:solidFill>
                  <a:srgbClr val="8FD3D9"/>
                </a:solidFill>
              </a:rPr>
              <a:t>Questions?</a:t>
            </a:r>
            <a:endParaRPr lang="en-US" sz="2400" dirty="0"/>
          </a:p>
        </p:txBody>
      </p:sp>
      <p:sp>
        <p:nvSpPr>
          <p:cNvPr id="4" name="Text 2"/>
          <p:cNvSpPr txBox="1"/>
          <p:nvPr/>
        </p:nvSpPr>
        <p:spPr>
          <a:xfrm>
            <a:off x="731520" y="4206240"/>
            <a:ext cx="6858000" cy="365760"/>
          </a:xfrm>
          <a:prstGeom prst="rect">
            <a:avLst/>
          </a:prstGeom>
          <a:noFill/>
          <a:ln/>
        </p:spPr>
        <p:txBody>
          <a:bodyPr wrap="square" lIns="0" tIns="0" rIns="0" bIns="0" rtlCol="0" anchor="t"/>
          <a:lstStyle/>
          <a:p>
            <a:pPr indent="0" marL="0">
              <a:buNone/>
            </a:pPr>
            <a:r>
              <a:rPr lang="en-US" sz="1800" b="1" dirty="0">
                <a:solidFill>
                  <a:schemeClr val="bg1"/>
                </a:solidFill>
              </a:rPr>
              <a:t>Team CodeNCoffee</a:t>
            </a:r>
            <a:endParaRPr lang="en-US" sz="1800" dirty="0"/>
          </a:p>
        </p:txBody>
      </p:sp>
      <p:sp>
        <p:nvSpPr>
          <p:cNvPr id="5" name="Text 3"/>
          <p:cNvSpPr txBox="1"/>
          <p:nvPr/>
        </p:nvSpPr>
        <p:spPr>
          <a:xfrm>
            <a:off x="731520" y="4572000"/>
            <a:ext cx="6858000" cy="365760"/>
          </a:xfrm>
          <a:prstGeom prst="rect">
            <a:avLst/>
          </a:prstGeom>
          <a:noFill/>
          <a:ln/>
        </p:spPr>
        <p:txBody>
          <a:bodyPr wrap="square" lIns="0" tIns="0" rIns="0" bIns="0" rtlCol="0" anchor="t"/>
          <a:lstStyle/>
          <a:p>
            <a:pPr indent="0" marL="0">
              <a:buNone/>
            </a:pPr>
            <a:r>
              <a:rPr lang="en-US" sz="1500" dirty="0">
                <a:solidFill>
                  <a:schemeClr val="bg1"/>
                </a:solidFill>
              </a:rPr>
              <a:t>Prasad V. Potluri Siddhartha Institute of Technology</a:t>
            </a:r>
            <a:endParaRPr lang="en-US" sz="1500" dirty="0"/>
          </a:p>
        </p:txBody>
      </p:sp>
      <p:sp>
        <p:nvSpPr>
          <p:cNvPr id="6" name="Text 4"/>
          <p:cNvSpPr txBox="1"/>
          <p:nvPr/>
        </p:nvSpPr>
        <p:spPr>
          <a:xfrm>
            <a:off x="731520" y="5120640"/>
            <a:ext cx="6858000" cy="365760"/>
          </a:xfrm>
          <a:prstGeom prst="rect">
            <a:avLst/>
          </a:prstGeom>
          <a:noFill/>
          <a:ln/>
        </p:spPr>
        <p:txBody>
          <a:bodyPr wrap="square" lIns="0" tIns="0" rIns="0" bIns="0" rtlCol="0" anchor="t"/>
          <a:lstStyle/>
          <a:p>
            <a:pPr indent="0" marL="0">
              <a:buNone/>
            </a:pPr>
            <a:r>
              <a:rPr lang="en-US" sz="1600" dirty="0">
                <a:solidFill>
                  <a:srgbClr val="8FD3D9"/>
                </a:solidFill>
              </a:rPr>
              <a:t>GitHub: [repository link]</a:t>
            </a:r>
            <a:endParaRPr lang="en-US" sz="1600" dirty="0"/>
          </a:p>
        </p:txBody>
      </p:sp>
      <p:sp>
        <p:nvSpPr>
          <p:cNvPr id="7" name="Text 5"/>
          <p:cNvSpPr txBox="1"/>
          <p:nvPr/>
        </p:nvSpPr>
        <p:spPr>
          <a:xfrm>
            <a:off x="731520" y="5486400"/>
            <a:ext cx="6858000" cy="365760"/>
          </a:xfrm>
          <a:prstGeom prst="rect">
            <a:avLst/>
          </a:prstGeom>
          <a:noFill/>
          <a:ln/>
        </p:spPr>
        <p:txBody>
          <a:bodyPr wrap="square" lIns="0" tIns="0" rIns="0" bIns="0" rtlCol="0" anchor="t"/>
          <a:lstStyle/>
          <a:p>
            <a:pPr indent="0" marL="0">
              <a:buNone/>
            </a:pPr>
            <a:r>
              <a:rPr lang="en-US" sz="1600" dirty="0">
                <a:solidFill>
                  <a:srgbClr val="8FD3D9"/>
                </a:solidFill>
              </a:rPr>
              <a:t>Demo video: [unlisted YouTube link]</a:t>
            </a:r>
            <a:endParaRPr lang="en-US" sz="1600" dirty="0"/>
          </a:p>
        </p:txBody>
      </p:sp>
      <p:sp>
        <p:nvSpPr>
          <p:cNvPr id="8" name="Text 6"/>
          <p:cNvSpPr txBox="1"/>
          <p:nvPr/>
        </p:nvSpPr>
        <p:spPr>
          <a:xfrm>
            <a:off x="731520" y="5852160"/>
            <a:ext cx="6858000" cy="365760"/>
          </a:xfrm>
          <a:prstGeom prst="rect">
            <a:avLst/>
          </a:prstGeom>
          <a:noFill/>
          <a:ln/>
        </p:spPr>
        <p:txBody>
          <a:bodyPr wrap="square" lIns="0" tIns="0" rIns="0" bIns="0" rtlCol="0" anchor="t"/>
          <a:lstStyle/>
          <a:p>
            <a:pPr indent="0" marL="0">
              <a:buNone/>
            </a:pPr>
            <a:r>
              <a:rPr lang="en-US" sz="1600" dirty="0">
                <a:solidFill>
                  <a:srgbClr val="8FD3D9"/>
                </a:solidFill>
              </a:rPr>
              <a:t>Open source under the MIT License</a:t>
            </a:r>
            <a:endParaRPr lang="en-US" sz="1600" dirty="0"/>
          </a:p>
        </p:txBody>
      </p:sp>
      <p:sp>
        <p:nvSpPr>
          <p:cNvPr id="9" name="Closing circle"/>
          <p:cNvSpPr/>
          <p:nvPr/>
        </p:nvSpPr>
        <p:spPr>
          <a:xfrm>
            <a:off x="7863840" y="1737360"/>
            <a:ext cx="3291840" cy="3291840"/>
          </a:xfrm>
          <a:prstGeom prst="ellipse">
            <a:avLst/>
          </a:prstGeom>
          <a:solidFill>
            <a:schemeClr val="accent1">
              <a:alpha val="45000"/>
            </a:schemeClr>
          </a:solidFill>
          <a:ln w="12700">
            <a:solidFill>
              <a:schemeClr val="accent1"/>
            </a:solidFill>
            <a:prstDash val="solid"/>
          </a:ln>
        </p:spPr>
      </p:sp>
      <p:pic>
        <p:nvPicPr>
          <p:cNvPr id="10" name="Closing icon" descr="Heartbeat icon">    </p:cNvPr>
          <p:cNvPicPr>
            <a:picLocks noChangeAspect="1"/>
          </p:cNvPicPr>
          <p:nvPr/>
        </p:nvPicPr>
        <p:blipFill>
          <a:blip r:embed="rId1"/>
          <a:stretch>
            <a:fillRect/>
          </a:stretch>
        </p:blipFill>
        <p:spPr>
          <a:xfrm>
            <a:off x="8686800" y="2560320"/>
            <a:ext cx="1645920" cy="1645920"/>
          </a:xfrm>
          <a:prstGeom prst="rect">
            <a:avLst/>
          </a:prstGeom>
        </p:spPr>
      </p:pic>
    </p:spTree>
  </p:cSld>
  <p:clrMapOvr>
    <a:masterClrMapping/>
  </p:clrMapOvr>
</p:sld>
</file>

<file path=ppt/theme/theme1.xml><?xml version="1.0" encoding="utf-8"?>
<a:theme xmlns:a="http://schemas.openxmlformats.org/drawingml/2006/main" name="GlucoTwin">
  <a:themeElements>
    <a:clrScheme name="GlucoTwin">
      <a:dk1>
        <a:srgbClr val="102A36"/>
      </a:dk1>
      <a:lt1>
        <a:srgbClr val="FFFFFF"/>
      </a:lt1>
      <a:dk2>
        <a:srgbClr val="0B3C49"/>
      </a:dk2>
      <a:lt2>
        <a:srgbClr val="EAF4F5"/>
      </a:lt2>
      <a:accent1>
        <a:srgbClr val="0E7C86"/>
      </a:accent1>
      <a:accent2>
        <a:srgbClr val="E4572E"/>
      </a:accent2>
      <a:accent3>
        <a:srgbClr val="F2A541"/>
      </a:accent3>
      <a:accent4>
        <a:srgbClr val="2E9E6B"/>
      </a:accent4>
      <a:accent5>
        <a:srgbClr val="5B7C8D"/>
      </a:accent5>
      <a:accent6>
        <a:srgbClr val="8FD3D9"/>
      </a:accent6>
      <a:hlink>
        <a:srgbClr val="0E7C86"/>
      </a:hlink>
      <a:folHlink>
        <a:srgbClr val="5B7C8D"/>
      </a:folHlink>
    </a:clrScheme>
    <a:fontScheme name="Gluco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for Type 2 Diabetes</dc:title>
  <dc:subject>PptxGenJS Presentation</dc:subject>
  <dc:creator>Team CodeNCoffee</dc:creator>
  <cp:lastModifiedBy>Team CodeNCoffee</cp:lastModifiedBy>
  <cp:revision>1</cp:revision>
  <dcterms:created xsi:type="dcterms:W3CDTF">2026-10-18T07:27:28Z</dcterms:created>
  <dcterms:modified xsi:type="dcterms:W3CDTF">2026-10-18T07:27:28Z</dcterms:modified>
</cp:coreProperties>
</file>